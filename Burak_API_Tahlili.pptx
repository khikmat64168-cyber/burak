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1E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0" y="182880"/>
            <a:ext cx="274320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0" b="1" dirty="0">
                <a:solidFill>
                  <a:srgbClr val="3C3C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&lt;/&gt;</a:t>
            </a:r>
            <a:endParaRPr lang="en-US" sz="12000" dirty="0"/>
          </a:p>
        </p:txBody>
      </p:sp>
      <p:sp>
        <p:nvSpPr>
          <p:cNvPr id="3" name="Text 1"/>
          <p:cNvSpPr/>
          <p:nvPr/>
        </p:nvSpPr>
        <p:spPr>
          <a:xfrm>
            <a:off x="640080" y="146304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800" b="1" spc="40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BURAK</a:t>
            </a:r>
            <a:endParaRPr lang="en-US" sz="5800" dirty="0"/>
          </a:p>
        </p:txBody>
      </p:sp>
      <p:sp>
        <p:nvSpPr>
          <p:cNvPr id="4" name="Text 2"/>
          <p:cNvSpPr/>
          <p:nvPr/>
        </p:nvSpPr>
        <p:spPr>
          <a:xfrm>
            <a:off x="685800" y="24231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dirty="0">
                <a:solidFill>
                  <a:srgbClr val="4EC9B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API Endpointlar — Kod Tahlili (Code Walkthrough)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685800" y="301752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4D4D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 bir endpoint: haqiqiy kod  +  qatorma-qator tahlil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85800" y="521208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585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Node.js · TypeScript · Express · MongoDB · EJS · Multer · bcrypt    |    MVC arxitekturasi    |    12 endpoint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E1E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Qatlamlar va ranglar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58368" y="102412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5858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 slaydda chap tomonda — haqiqiy kod, o'ng tomonda — o'sha kodning tahlili. Rang qatlamni bildiradi.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128016" cy="731520"/>
          </a:xfrm>
          <a:prstGeom prst="rect">
            <a:avLst/>
          </a:prstGeom>
          <a:solidFill>
            <a:srgbClr val="569CD6"/>
          </a:solidFill>
          <a:ln/>
        </p:spPr>
      </p:sp>
      <p:sp>
        <p:nvSpPr>
          <p:cNvPr id="5" name="Shape 3"/>
          <p:cNvSpPr/>
          <p:nvPr/>
        </p:nvSpPr>
        <p:spPr>
          <a:xfrm>
            <a:off x="768096" y="1691640"/>
            <a:ext cx="10789920" cy="731520"/>
          </a:xfrm>
          <a:prstGeom prst="rect">
            <a:avLst/>
          </a:prstGeom>
          <a:solidFill>
            <a:srgbClr val="252526"/>
          </a:solidFill>
          <a:ln w="12700">
            <a:solidFill>
              <a:srgbClr val="3C3C3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1691640"/>
            <a:ext cx="3017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ROUTER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114800" y="1691640"/>
            <a:ext cx="72237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4D4D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router-admin.ts — URL va middleware zanjiri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2569464"/>
            <a:ext cx="128016" cy="731520"/>
          </a:xfrm>
          <a:prstGeom prst="rect">
            <a:avLst/>
          </a:prstGeom>
          <a:solidFill>
            <a:srgbClr val="4EC9B0"/>
          </a:solidFill>
          <a:ln/>
        </p:spPr>
      </p:sp>
      <p:sp>
        <p:nvSpPr>
          <p:cNvPr id="9" name="Shape 7"/>
          <p:cNvSpPr/>
          <p:nvPr/>
        </p:nvSpPr>
        <p:spPr>
          <a:xfrm>
            <a:off x="768096" y="2569464"/>
            <a:ext cx="10789920" cy="731520"/>
          </a:xfrm>
          <a:prstGeom prst="rect">
            <a:avLst/>
          </a:prstGeom>
          <a:solidFill>
            <a:srgbClr val="252526"/>
          </a:solidFill>
          <a:ln w="12700">
            <a:solidFill>
              <a:srgbClr val="3C3C3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60120" y="2569464"/>
            <a:ext cx="3017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CONTROLLER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114800" y="2569464"/>
            <a:ext cx="72237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4D4D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*.controller(s).ts — req.body / params / files ni oladi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3447288"/>
            <a:ext cx="128016" cy="731520"/>
          </a:xfrm>
          <a:prstGeom prst="rect">
            <a:avLst/>
          </a:prstGeom>
          <a:solidFill>
            <a:srgbClr val="DCDCAA"/>
          </a:solidFill>
          <a:ln/>
        </p:spPr>
      </p:sp>
      <p:sp>
        <p:nvSpPr>
          <p:cNvPr id="13" name="Shape 11"/>
          <p:cNvSpPr/>
          <p:nvPr/>
        </p:nvSpPr>
        <p:spPr>
          <a:xfrm>
            <a:off x="768096" y="3447288"/>
            <a:ext cx="10789920" cy="731520"/>
          </a:xfrm>
          <a:prstGeom prst="rect">
            <a:avLst/>
          </a:prstGeom>
          <a:solidFill>
            <a:srgbClr val="252526"/>
          </a:solidFill>
          <a:ln w="12700">
            <a:solidFill>
              <a:srgbClr val="3C3C3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60120" y="3447288"/>
            <a:ext cx="3017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SERVICE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114800" y="3447288"/>
            <a:ext cx="72237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4D4D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*.service.ts — biznes logika: bcrypt, ObjectId, validatsiya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40080" y="4325112"/>
            <a:ext cx="128016" cy="731520"/>
          </a:xfrm>
          <a:prstGeom prst="rect">
            <a:avLst/>
          </a:prstGeom>
          <a:solidFill>
            <a:srgbClr val="CE9178"/>
          </a:solidFill>
          <a:ln/>
        </p:spPr>
      </p:sp>
      <p:sp>
        <p:nvSpPr>
          <p:cNvPr id="17" name="Shape 15"/>
          <p:cNvSpPr/>
          <p:nvPr/>
        </p:nvSpPr>
        <p:spPr>
          <a:xfrm>
            <a:off x="768096" y="4325112"/>
            <a:ext cx="10789920" cy="731520"/>
          </a:xfrm>
          <a:prstGeom prst="rect">
            <a:avLst/>
          </a:prstGeom>
          <a:solidFill>
            <a:srgbClr val="252526"/>
          </a:solidFill>
          <a:ln w="12700">
            <a:solidFill>
              <a:srgbClr val="3C3C3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60120" y="4325112"/>
            <a:ext cx="3017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SCHEMA / MODEL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4114800" y="4325112"/>
            <a:ext cx="72237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4D4D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*.model.ts — Mongoose orqali MongoDB (find/create/update)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640080" y="5202936"/>
            <a:ext cx="128016" cy="731520"/>
          </a:xfrm>
          <a:prstGeom prst="rect">
            <a:avLst/>
          </a:prstGeom>
          <a:solidFill>
            <a:srgbClr val="6A9955"/>
          </a:solidFill>
          <a:ln/>
        </p:spPr>
      </p:sp>
      <p:sp>
        <p:nvSpPr>
          <p:cNvPr id="21" name="Shape 19"/>
          <p:cNvSpPr/>
          <p:nvPr/>
        </p:nvSpPr>
        <p:spPr>
          <a:xfrm>
            <a:off x="768096" y="5202936"/>
            <a:ext cx="10789920" cy="731520"/>
          </a:xfrm>
          <a:prstGeom prst="rect">
            <a:avLst/>
          </a:prstGeom>
          <a:solidFill>
            <a:srgbClr val="252526"/>
          </a:solidFill>
          <a:ln w="12700">
            <a:solidFill>
              <a:srgbClr val="3C3C3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60120" y="5202936"/>
            <a:ext cx="3017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RESPONSE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4114800" y="5202936"/>
            <a:ext cx="72237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4D4D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render (SSR) · json (SPA) · redirect · send(script)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E1E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47472" y="237744"/>
            <a:ext cx="1280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C3C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01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1417320" y="310896"/>
            <a:ext cx="896112" cy="420624"/>
          </a:xfrm>
          <a:prstGeom prst="roundRect">
            <a:avLst>
              <a:gd name="adj" fmla="val 10870"/>
            </a:avLst>
          </a:prstGeom>
          <a:solidFill>
            <a:srgbClr val="569CD6"/>
          </a:solidFill>
          <a:ln/>
        </p:spPr>
      </p:sp>
      <p:sp>
        <p:nvSpPr>
          <p:cNvPr id="4" name="Text 2"/>
          <p:cNvSpPr/>
          <p:nvPr/>
        </p:nvSpPr>
        <p:spPr>
          <a:xfrm>
            <a:off x="1417320" y="310896"/>
            <a:ext cx="89611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1E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2423160" y="310896"/>
            <a:ext cx="52120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/admin/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818120" y="310896"/>
            <a:ext cx="3977640" cy="420624"/>
          </a:xfrm>
          <a:prstGeom prst="roundRect">
            <a:avLst>
              <a:gd name="adj" fmla="val 10870"/>
            </a:avLst>
          </a:prstGeom>
          <a:solidFill>
            <a:srgbClr val="252526"/>
          </a:solidFill>
          <a:ln w="15875">
            <a:solidFill>
              <a:srgbClr val="4EC9B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18120" y="31089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CONTROLLER · restaurant.controller.ts:45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47472" y="960120"/>
            <a:ext cx="6217920" cy="5532120"/>
          </a:xfrm>
          <a:prstGeom prst="rect">
            <a:avLst/>
          </a:prstGeom>
          <a:solidFill>
            <a:srgbClr val="1A1A1A"/>
          </a:solidFill>
          <a:ln w="12700">
            <a:solidFill>
              <a:srgbClr val="3C3C3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47472" y="960120"/>
            <a:ext cx="6217920" cy="54864"/>
          </a:xfrm>
          <a:prstGeom prst="rect">
            <a:avLst/>
          </a:prstGeom>
          <a:solidFill>
            <a:srgbClr val="4EC9B0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1152144"/>
            <a:ext cx="5897880" cy="5257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restaurantController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goHome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req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Request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Response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=&gt;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try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render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('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home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');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catch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err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console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('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Error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goHome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:',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err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redirect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('/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admin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');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};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6812280" y="987552"/>
            <a:ext cx="4983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EC9B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Kod tahlili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6812280" y="1389888"/>
            <a:ext cx="4937760" cy="0"/>
          </a:xfrm>
          <a:prstGeom prst="line">
            <a:avLst/>
          </a:prstGeom>
          <a:noFill/>
          <a:ln w="12700">
            <a:solidFill>
              <a:srgbClr val="3C3C3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812280" y="1517904"/>
            <a:ext cx="5010912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250" dirty="0">
                <a:solidFill>
                  <a:srgbClr val="D4D4D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restaurantController obyektimiz ichida goHome nomli oddiy (sinxron) metod ochilgan. U req (so'rov) va res (javob) parametrlarini oladi. Bu metod admin panel bosh sahifasi — GET /admin/ — so'ralganda chaqiriladi va hech qanday himoya (middleware) talab qilmaydi.</a:t>
            </a:r>
            <a:endParaRPr lang="en-US" sz="12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50" dirty="0">
                <a:solidFill>
                  <a:srgbClr val="D4D4D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Butun mantiq try-catch ichiga o'ralgan. try blokida atigi bitta amal bor: res.render('home'). Bu server tomonida home.ejs shablonini tayyor HTML ga aylantirib, brauzerga to'liq sahifani yuboradi (SSR usuli). Bu yerda na service, na bazaga murojaat bor — chunki bosh sahifa statik.</a:t>
            </a:r>
            <a:endParaRPr lang="en-US" sz="12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50" dirty="0">
                <a:solidFill>
                  <a:srgbClr val="D4D4D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Agar render paytida xatolik chiqsa, catch bloki uni ushlaydi: konsolga 'Error. goHome' yoziladi va foydalanuvchi res.redirect('/admin') bilan yana bosh sahifaga qaytariladi.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E1E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47472" y="237744"/>
            <a:ext cx="1280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C3C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02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1417320" y="310896"/>
            <a:ext cx="896112" cy="420624"/>
          </a:xfrm>
          <a:prstGeom prst="roundRect">
            <a:avLst>
              <a:gd name="adj" fmla="val 10870"/>
            </a:avLst>
          </a:prstGeom>
          <a:solidFill>
            <a:srgbClr val="569CD6"/>
          </a:solidFill>
          <a:ln/>
        </p:spPr>
      </p:sp>
      <p:sp>
        <p:nvSpPr>
          <p:cNvPr id="4" name="Text 2"/>
          <p:cNvSpPr/>
          <p:nvPr/>
        </p:nvSpPr>
        <p:spPr>
          <a:xfrm>
            <a:off x="1417320" y="310896"/>
            <a:ext cx="89611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1E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2423160" y="310896"/>
            <a:ext cx="52120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/admin/signup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818120" y="310896"/>
            <a:ext cx="3977640" cy="420624"/>
          </a:xfrm>
          <a:prstGeom prst="roundRect">
            <a:avLst>
              <a:gd name="adj" fmla="val 10870"/>
            </a:avLst>
          </a:prstGeom>
          <a:solidFill>
            <a:srgbClr val="252526"/>
          </a:solidFill>
          <a:ln w="15875">
            <a:solidFill>
              <a:srgbClr val="4EC9B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18120" y="31089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CONTROLLER · restaurant.controller.ts:62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47472" y="960120"/>
            <a:ext cx="6217920" cy="5532120"/>
          </a:xfrm>
          <a:prstGeom prst="rect">
            <a:avLst/>
          </a:prstGeom>
          <a:solidFill>
            <a:srgbClr val="1A1A1A"/>
          </a:solidFill>
          <a:ln w="12700">
            <a:solidFill>
              <a:srgbClr val="3C3C3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47472" y="960120"/>
            <a:ext cx="6217920" cy="54864"/>
          </a:xfrm>
          <a:prstGeom prst="rect">
            <a:avLst/>
          </a:prstGeom>
          <a:solidFill>
            <a:srgbClr val="4EC9B0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1152144"/>
            <a:ext cx="5897880" cy="5257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restaurantController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getSignup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req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Request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Response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=&gt;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try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console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('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getSignup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');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render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('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signup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');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catch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err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console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('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Error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getSignup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:',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err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redirect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('/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admin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');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};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6812280" y="987552"/>
            <a:ext cx="4983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EC9B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Kod tahlili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6812280" y="1389888"/>
            <a:ext cx="4937760" cy="0"/>
          </a:xfrm>
          <a:prstGeom prst="line">
            <a:avLst/>
          </a:prstGeom>
          <a:noFill/>
          <a:ln w="12700">
            <a:solidFill>
              <a:srgbClr val="3C3C3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812280" y="1517904"/>
            <a:ext cx="5010912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250" dirty="0">
                <a:solidFill>
                  <a:srgbClr val="D4D4D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getSignup ham xuddi goHome kabi oddiy sinxron metod bo'lib, req va res ni oladi. U GET /admin/signup yo'lagida ishlaydi va birgina vazifasi — ro'yxatdan o'tish formasini ko'rsatish.</a:t>
            </a:r>
            <a:endParaRPr lang="en-US" sz="12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50" dirty="0">
                <a:solidFill>
                  <a:srgbClr val="D4D4D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try blokida konsolga 'getSignup' yozilib, res.render('signup') orqali signup.ejs sahifasi server tomonida yasalib qaytariladi (SSR). Bazaga hech narsa yozilmaydi — bu shunchaki bo'sh forma, foydalanuvchi uni keyin to'ldiradi.</a:t>
            </a:r>
            <a:endParaRPr lang="en-US" sz="12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50" dirty="0">
                <a:solidFill>
                  <a:srgbClr val="D4D4D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Xato bo'lsa catch ishlaydi va res.redirect('/admin') bilan bosh sahifaga qaytaradi.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E1E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47472" y="237744"/>
            <a:ext cx="1280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C3C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03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1417320" y="310896"/>
            <a:ext cx="896112" cy="420624"/>
          </a:xfrm>
          <a:prstGeom prst="roundRect">
            <a:avLst>
              <a:gd name="adj" fmla="val 10870"/>
            </a:avLst>
          </a:prstGeom>
          <a:solidFill>
            <a:srgbClr val="CE9178"/>
          </a:solidFill>
          <a:ln/>
        </p:spPr>
      </p:sp>
      <p:sp>
        <p:nvSpPr>
          <p:cNvPr id="4" name="Text 2"/>
          <p:cNvSpPr/>
          <p:nvPr/>
        </p:nvSpPr>
        <p:spPr>
          <a:xfrm>
            <a:off x="1417320" y="310896"/>
            <a:ext cx="89611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1E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2423160" y="310896"/>
            <a:ext cx="52120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/admin/signup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818120" y="310896"/>
            <a:ext cx="3977640" cy="420624"/>
          </a:xfrm>
          <a:prstGeom prst="roundRect">
            <a:avLst>
              <a:gd name="adj" fmla="val 10870"/>
            </a:avLst>
          </a:prstGeom>
          <a:solidFill>
            <a:srgbClr val="252526"/>
          </a:solidFill>
          <a:ln w="15875">
            <a:solidFill>
              <a:srgbClr val="4EC9B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18120" y="31089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CONTROLLER · restaurant.controller.ts:101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47472" y="960120"/>
            <a:ext cx="6217920" cy="5532120"/>
          </a:xfrm>
          <a:prstGeom prst="rect">
            <a:avLst/>
          </a:prstGeom>
          <a:solidFill>
            <a:srgbClr val="1A1A1A"/>
          </a:solidFill>
          <a:ln w="12700">
            <a:solidFill>
              <a:srgbClr val="3C3C3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47472" y="960120"/>
            <a:ext cx="6217920" cy="54864"/>
          </a:xfrm>
          <a:prstGeom prst="rect">
            <a:avLst/>
          </a:prstGeom>
          <a:solidFill>
            <a:srgbClr val="4EC9B0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1152144"/>
            <a:ext cx="5897880" cy="5257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restaurantController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processSignup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endParaRPr lang="en-US" sz="11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async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req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Request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Response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=&gt;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1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try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1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files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req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files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</a:t>
            </a:r>
            <a:endParaRPr lang="en-US" sz="11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Express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Multer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File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[];</a:t>
            </a:r>
            <a:endParaRPr lang="en-US" sz="11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file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files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?.[0];</a:t>
            </a:r>
            <a:endParaRPr lang="en-US" sz="11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(!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file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throw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Errors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endParaRPr lang="en-US" sz="11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HttpCode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BAD_REQUEST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1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Message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SOMETHING_WENT_WRONG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1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newMember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MemberInput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req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body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newMember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memberImage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endParaRPr lang="en-US" sz="11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file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?.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path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replace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(/\\/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'/'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1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newMember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memberType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endParaRPr lang="en-US" sz="11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MemberType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RESTAURANT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</a:t>
            </a:r>
            <a:endParaRPr lang="en-US" sz="11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memberService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processSignup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newMember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1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req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session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member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req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session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save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function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1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redirect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('/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admin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product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all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');</a:t>
            </a:r>
            <a:endParaRPr lang="en-US" sz="11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});</a:t>
            </a:r>
            <a:endParaRPr lang="en-US" sz="11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catch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err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/*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alert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redirect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*/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};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812280" y="987552"/>
            <a:ext cx="4983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EC9B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Kod tahlili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6812280" y="1389888"/>
            <a:ext cx="4937760" cy="0"/>
          </a:xfrm>
          <a:prstGeom prst="line">
            <a:avLst/>
          </a:prstGeom>
          <a:noFill/>
          <a:ln w="12700">
            <a:solidFill>
              <a:srgbClr val="3C3C3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812280" y="1517904"/>
            <a:ext cx="5010912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150" dirty="0">
                <a:solidFill>
                  <a:srgbClr val="D4D4D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restaurantController ichida processSignup nomli async (asinxron) metod ochilgan. U req va res ni oladi va xavfsizlik uchun butun mantiq try-catch ichiga o'ralgan. Bu metod ro'yxatdan o'tish — POST /admin/signup — yo'lagida chaqiriladi.</a:t>
            </a:r>
            <a:endParaRPr lang="en-US" sz="11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50" dirty="0">
                <a:solidFill>
                  <a:srgbClr val="D4D4D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try ichida: avval req.files ni TypeScript tushunadigan Express.Multer.File[] (fayllar massivi) tipiga as orqali o'tkazib, files ga olamiz. Restoran bitta rasm (logotip) yuklashi shart bo'lgani uchun massivning eng birinchi elementini — files?.[0] ni — file ga olamiz.</a:t>
            </a:r>
            <a:endParaRPr lang="en-US" sz="11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50" dirty="0">
                <a:solidFill>
                  <a:srgbClr val="D4D4D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Agar rasm yuklanmagan bo'lsa (!file), darrov to'xtatiladi: new Errors(BAD_REQUEST, SOMETHING_WENT_WRONG) xatosi otiladi (throw).</a:t>
            </a:r>
            <a:endParaRPr lang="en-US" sz="11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50" dirty="0">
                <a:solidFill>
                  <a:srgbClr val="D4D4D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Rasm bor bo'lsa, req.body dagi ma'lumotlarni MemberInput tipidagi newMember ga olamiz va rasm path idagi teskari sleshlarni (\) to'g'ri sleshga (/) almashtirib memberImage ga yozamiz.</a:t>
            </a:r>
            <a:endParaRPr lang="en-US" sz="11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50" dirty="0">
                <a:solidFill>
                  <a:srgbClr val="D4D4D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Muhim joyi: newMember.memberType = MemberType.RESTAURANT — foydalanuvchi turini atayin 'RESTAURANT' deb qat'iy belgilaymiz (u o'zini oddiy mijoz deb hiyla qilolmaydi).</a:t>
            </a:r>
            <a:endParaRPr lang="en-US" sz="11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50" dirty="0">
                <a:solidFill>
                  <a:srgbClr val="D4D4D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So'ng newMember ni memberService.processSignup ga berib, bazaga yozilishini await bilan kutamiz; baza to'liq ma'lumotni (result) qaytaradi. Oxirida req.session.member = result bilan sessiya yaratilib, save() callbackida /admin/product/all ga redirect qilinadi.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E1E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47472" y="237744"/>
            <a:ext cx="1280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C3C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03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1417320" y="310896"/>
            <a:ext cx="896112" cy="420624"/>
          </a:xfrm>
          <a:prstGeom prst="roundRect">
            <a:avLst>
              <a:gd name="adj" fmla="val 10870"/>
            </a:avLst>
          </a:prstGeom>
          <a:solidFill>
            <a:srgbClr val="CE9178"/>
          </a:solidFill>
          <a:ln/>
        </p:spPr>
      </p:sp>
      <p:sp>
        <p:nvSpPr>
          <p:cNvPr id="4" name="Text 2"/>
          <p:cNvSpPr/>
          <p:nvPr/>
        </p:nvSpPr>
        <p:spPr>
          <a:xfrm>
            <a:off x="1417320" y="310896"/>
            <a:ext cx="89611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1E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2423160" y="310896"/>
            <a:ext cx="52120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/admin/signup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818120" y="310896"/>
            <a:ext cx="3977640" cy="420624"/>
          </a:xfrm>
          <a:prstGeom prst="roundRect">
            <a:avLst>
              <a:gd name="adj" fmla="val 10870"/>
            </a:avLst>
          </a:prstGeom>
          <a:solidFill>
            <a:srgbClr val="252526"/>
          </a:solidFill>
          <a:ln w="15875">
            <a:solidFill>
              <a:srgbClr val="DCDCA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18120" y="31089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SERVICE · Member.service.ts:119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47472" y="960120"/>
            <a:ext cx="6217920" cy="5532120"/>
          </a:xfrm>
          <a:prstGeom prst="rect">
            <a:avLst/>
          </a:prstGeom>
          <a:solidFill>
            <a:srgbClr val="1A1A1A"/>
          </a:solidFill>
          <a:ln w="12700">
            <a:solidFill>
              <a:srgbClr val="3C3C3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47472" y="960120"/>
            <a:ext cx="6217920" cy="54864"/>
          </a:xfrm>
          <a:prstGeom prst="rect">
            <a:avLst/>
          </a:prstGeom>
          <a:solidFill>
            <a:srgbClr val="DCDCAA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1152144"/>
            <a:ext cx="5897880" cy="5257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async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processSignup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input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MemberInput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):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Promise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Member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salt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bcrypt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genSalt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();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input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memberPassword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bcrypt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hash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input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memberPassword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salt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try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this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memberModel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create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input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memberPassword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''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catch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err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throw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Errors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HttpCode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BAD_REQUEST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Message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CREATE_FAILED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6812280" y="987552"/>
            <a:ext cx="4983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CDCA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Kod tahlili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6812280" y="1389888"/>
            <a:ext cx="4937760" cy="0"/>
          </a:xfrm>
          <a:prstGeom prst="line">
            <a:avLst/>
          </a:prstGeom>
          <a:noFill/>
          <a:ln w="12700">
            <a:solidFill>
              <a:srgbClr val="3C3C3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812280" y="1517904"/>
            <a:ext cx="5010912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250" dirty="0">
                <a:solidFill>
                  <a:srgbClr val="D4D4D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Endi navbat Service qatlamiga. MemberService classi ichidagi processSignup metodi MemberInput tipidagi input ni oladi va Promise&lt;Member&gt; qaytaradi (chunki async).</a:t>
            </a:r>
            <a:endParaRPr lang="en-US" sz="12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50" dirty="0">
                <a:solidFill>
                  <a:srgbClr val="D4D4D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Birinchi navbatda parol shifrlanadi. bcrypt.genSalt() tasodifiy 'tuz' (salt) hosil qiladi. So'ng bcrypt.hash(input.memberPassword, salt) ochiq parolni o'sha tuz bilan bir tomonlama hash ga aylantiradi va natijani qaytib input.memberPassword ga yozadi — endi obyektda ochiq parol qolmaydi.</a:t>
            </a:r>
            <a:endParaRPr lang="en-US" sz="12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50" dirty="0">
                <a:solidFill>
                  <a:srgbClr val="D4D4D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Keyin this.memberModel.create(input) orqali yangi hujjat bazaga yoziladi. Yozilgach, javob clientga ketishidan oldin result.memberPassword = '' qilib parol maydoni tozalanadi (hash ham tashqariga chiqmasin).</a:t>
            </a:r>
            <a:endParaRPr lang="en-US" sz="12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50" dirty="0">
                <a:solidFill>
                  <a:srgbClr val="D4D4D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 amallar try ichida. Agar create xato bersa (masalan, nick yoki telefon takrorlansa — schema'da ular unique), catch ishga tushib new Errors(BAD_REQUEST, CREATE_FAILED) xatosini otadi.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E1E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47472" y="237744"/>
            <a:ext cx="1280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C3C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04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1417320" y="310896"/>
            <a:ext cx="896112" cy="420624"/>
          </a:xfrm>
          <a:prstGeom prst="roundRect">
            <a:avLst>
              <a:gd name="adj" fmla="val 10870"/>
            </a:avLst>
          </a:prstGeom>
          <a:solidFill>
            <a:srgbClr val="569CD6"/>
          </a:solidFill>
          <a:ln/>
        </p:spPr>
      </p:sp>
      <p:sp>
        <p:nvSpPr>
          <p:cNvPr id="4" name="Text 2"/>
          <p:cNvSpPr/>
          <p:nvPr/>
        </p:nvSpPr>
        <p:spPr>
          <a:xfrm>
            <a:off x="1417320" y="310896"/>
            <a:ext cx="89611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1E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2423160" y="310896"/>
            <a:ext cx="52120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/admin/login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818120" y="310896"/>
            <a:ext cx="3977640" cy="420624"/>
          </a:xfrm>
          <a:prstGeom prst="roundRect">
            <a:avLst>
              <a:gd name="adj" fmla="val 10870"/>
            </a:avLst>
          </a:prstGeom>
          <a:solidFill>
            <a:srgbClr val="252526"/>
          </a:solidFill>
          <a:ln w="15875">
            <a:solidFill>
              <a:srgbClr val="4EC9B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18120" y="31089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CONTROLLER · restaurant.controller.ts:79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47472" y="960120"/>
            <a:ext cx="6217920" cy="5532120"/>
          </a:xfrm>
          <a:prstGeom prst="rect">
            <a:avLst/>
          </a:prstGeom>
          <a:solidFill>
            <a:srgbClr val="1A1A1A"/>
          </a:solidFill>
          <a:ln w="12700">
            <a:solidFill>
              <a:srgbClr val="3C3C3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47472" y="960120"/>
            <a:ext cx="6217920" cy="54864"/>
          </a:xfrm>
          <a:prstGeom prst="rect">
            <a:avLst/>
          </a:prstGeom>
          <a:solidFill>
            <a:srgbClr val="4EC9B0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1152144"/>
            <a:ext cx="5897880" cy="5257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restaurantController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getLogin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req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Request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Response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=&gt;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try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console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('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getLogin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');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render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('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login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');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catch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err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console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('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Error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getLogin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:',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err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redirect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('/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admin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');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};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6812280" y="987552"/>
            <a:ext cx="4983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EC9B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Kod tahlili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6812280" y="1389888"/>
            <a:ext cx="4937760" cy="0"/>
          </a:xfrm>
          <a:prstGeom prst="line">
            <a:avLst/>
          </a:prstGeom>
          <a:noFill/>
          <a:ln w="12700">
            <a:solidFill>
              <a:srgbClr val="3C3C3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812280" y="1517904"/>
            <a:ext cx="5010912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250" dirty="0">
                <a:solidFill>
                  <a:srgbClr val="D4D4D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getLogin — getSignup bilan bir xil andozadagi oddiy sinxron metod. U GET /admin/login da ishlaydi va faqat login (kirish) sahifasini ko'rsatadi.</a:t>
            </a:r>
            <a:endParaRPr lang="en-US" sz="12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50" dirty="0">
                <a:solidFill>
                  <a:srgbClr val="D4D4D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try blokida res.render('login') orqali login.ejs sahifasi server tomonida HTML qilib yasalib qaytariladi (SSR). Bu yerda ham bazaga murojaat yo'q — haqiqiy tekshiruv keyingi qadamda, POST /admin/login da bo'ladi.</a:t>
            </a:r>
            <a:endParaRPr lang="en-US" sz="12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50" dirty="0">
                <a:solidFill>
                  <a:srgbClr val="D4D4D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Xatolik yuz bersa catch bloki res.redirect('/admin') bilan bosh sahifaga qaytaradi.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E1E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47472" y="237744"/>
            <a:ext cx="1280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C3C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05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1417320" y="310896"/>
            <a:ext cx="896112" cy="420624"/>
          </a:xfrm>
          <a:prstGeom prst="roundRect">
            <a:avLst>
              <a:gd name="adj" fmla="val 10870"/>
            </a:avLst>
          </a:prstGeom>
          <a:solidFill>
            <a:srgbClr val="CE9178"/>
          </a:solidFill>
          <a:ln/>
        </p:spPr>
      </p:sp>
      <p:sp>
        <p:nvSpPr>
          <p:cNvPr id="4" name="Text 2"/>
          <p:cNvSpPr/>
          <p:nvPr/>
        </p:nvSpPr>
        <p:spPr>
          <a:xfrm>
            <a:off x="1417320" y="310896"/>
            <a:ext cx="89611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1E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2423160" y="310896"/>
            <a:ext cx="52120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/admin/login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818120" y="310896"/>
            <a:ext cx="3977640" cy="420624"/>
          </a:xfrm>
          <a:prstGeom prst="roundRect">
            <a:avLst>
              <a:gd name="adj" fmla="val 10870"/>
            </a:avLst>
          </a:prstGeom>
          <a:solidFill>
            <a:srgbClr val="252526"/>
          </a:solidFill>
          <a:ln w="15875">
            <a:solidFill>
              <a:srgbClr val="4EC9B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18120" y="31089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CONTROLLER · restaurant.controller.ts:189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47472" y="960120"/>
            <a:ext cx="6217920" cy="5532120"/>
          </a:xfrm>
          <a:prstGeom prst="rect">
            <a:avLst/>
          </a:prstGeom>
          <a:solidFill>
            <a:srgbClr val="1A1A1A"/>
          </a:solidFill>
          <a:ln w="12700">
            <a:solidFill>
              <a:srgbClr val="3C3C3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47472" y="960120"/>
            <a:ext cx="6217920" cy="54864"/>
          </a:xfrm>
          <a:prstGeom prst="rect">
            <a:avLst/>
          </a:prstGeom>
          <a:solidFill>
            <a:srgbClr val="4EC9B0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1152144"/>
            <a:ext cx="5897880" cy="5257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restaurantController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processLogin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async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req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AdminRequest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Response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=&gt;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try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input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LoginInput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req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body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memberService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processLogin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input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req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session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member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req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session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save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function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redirect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('/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admin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product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all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');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});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catch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err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message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err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instanceof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Error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?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err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message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Message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SOMETHING_WENT_WRONG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send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(`&lt;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script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alert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(...)&lt;/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script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&gt;`);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};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6812280" y="987552"/>
            <a:ext cx="4983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EC9B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Kod tahlili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6812280" y="1389888"/>
            <a:ext cx="4937760" cy="0"/>
          </a:xfrm>
          <a:prstGeom prst="line">
            <a:avLst/>
          </a:prstGeom>
          <a:noFill/>
          <a:ln w="12700">
            <a:solidFill>
              <a:srgbClr val="3C3C3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812280" y="1517904"/>
            <a:ext cx="5010912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250" dirty="0">
                <a:solidFill>
                  <a:srgbClr val="D4D4D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processLogin — async metod, AdminRequest va Response ni oladi, mantiq odatdagidek try-catch ichida. U POST /admin/login da chaqiriladi.</a:t>
            </a:r>
            <a:endParaRPr lang="en-US" sz="12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50" dirty="0">
                <a:solidFill>
                  <a:srgbClr val="D4D4D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 yerda fayl yo'q (uploader ulanmagan), shuning uchun to'g'ridan req.body olinib, LoginInput tipidagi input o'zgaruvchisiga tenglanadi — bu faqat memberNick va memberPassword maydonlaridan iborat.</a:t>
            </a:r>
            <a:endParaRPr lang="en-US" sz="12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50" dirty="0">
                <a:solidFill>
                  <a:srgbClr val="D4D4D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Keyin memberService.processLogin(input) await bilan chaqiriladi va baza tasdiqlagan to'liq foydalanuvchi result ga qaytadi. Shundan so'ng req.session.member = result bilan sessiya yaratilib, req.session.save() callbackida res.redirect('/admin/product/all') orqali mahsulotlar sahifasiga o'tkaziladi.</a:t>
            </a:r>
            <a:endParaRPr lang="en-US" sz="12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50" dirty="0">
                <a:solidFill>
                  <a:srgbClr val="D4D4D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Agar parol xato yoki nick topilmasa, service xato otadi va catch ishlaydi: xato xabari olinib res.send orqali alert chiqariladi va /admin/login ga qaytariladi.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E1E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47472" y="237744"/>
            <a:ext cx="1280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C3C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05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1417320" y="310896"/>
            <a:ext cx="896112" cy="420624"/>
          </a:xfrm>
          <a:prstGeom prst="roundRect">
            <a:avLst>
              <a:gd name="adj" fmla="val 10870"/>
            </a:avLst>
          </a:prstGeom>
          <a:solidFill>
            <a:srgbClr val="CE9178"/>
          </a:solidFill>
          <a:ln/>
        </p:spPr>
      </p:sp>
      <p:sp>
        <p:nvSpPr>
          <p:cNvPr id="4" name="Text 2"/>
          <p:cNvSpPr/>
          <p:nvPr/>
        </p:nvSpPr>
        <p:spPr>
          <a:xfrm>
            <a:off x="1417320" y="310896"/>
            <a:ext cx="89611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1E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2423160" y="310896"/>
            <a:ext cx="52120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/admin/login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818120" y="310896"/>
            <a:ext cx="3977640" cy="420624"/>
          </a:xfrm>
          <a:prstGeom prst="roundRect">
            <a:avLst>
              <a:gd name="adj" fmla="val 10870"/>
            </a:avLst>
          </a:prstGeom>
          <a:solidFill>
            <a:srgbClr val="252526"/>
          </a:solidFill>
          <a:ln w="15875">
            <a:solidFill>
              <a:srgbClr val="DCDCA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18120" y="31089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SERVICE · Member.service.ts:167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47472" y="960120"/>
            <a:ext cx="6217920" cy="5532120"/>
          </a:xfrm>
          <a:prstGeom prst="rect">
            <a:avLst/>
          </a:prstGeom>
          <a:solidFill>
            <a:srgbClr val="1A1A1A"/>
          </a:solidFill>
          <a:ln w="12700">
            <a:solidFill>
              <a:srgbClr val="3C3C3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47472" y="960120"/>
            <a:ext cx="6217920" cy="54864"/>
          </a:xfrm>
          <a:prstGeom prst="rect">
            <a:avLst/>
          </a:prstGeom>
          <a:solidFill>
            <a:srgbClr val="DCDCAA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1152144"/>
            <a:ext cx="5897880" cy="5257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async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processLogin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input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LoginInput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):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Promise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Member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member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this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memberModel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findOne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({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memberNick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input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memberNick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})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select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('+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memberPassword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')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exec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();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(!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member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throw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Errors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HttpCode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NOT_FOUND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Message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NO_MEMBER_NICK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isMatch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bcrypt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compare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input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memberPassword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member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memberPassword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(!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isMatch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throw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Errors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HttpCode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UNAUTHORIZED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Message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WRONG_PASSWORD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this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memberModel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findById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member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_id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).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exec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();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6812280" y="987552"/>
            <a:ext cx="4983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CDCA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Kod tahlili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6812280" y="1389888"/>
            <a:ext cx="4937760" cy="0"/>
          </a:xfrm>
          <a:prstGeom prst="line">
            <a:avLst/>
          </a:prstGeom>
          <a:noFill/>
          <a:ln w="12700">
            <a:solidFill>
              <a:srgbClr val="3C3C3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812280" y="1517904"/>
            <a:ext cx="5010912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250" dirty="0">
                <a:solidFill>
                  <a:srgbClr val="D4D4D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Service qatlamidagi processLogin avval this.memberModel.findOne({ memberNick }) bilan kiritilgan nick bo'yicha foydalanuvchini qidiradi.</a:t>
            </a:r>
            <a:endParaRPr lang="en-US" sz="12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50" dirty="0">
                <a:solidFill>
                  <a:srgbClr val="D4D4D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Muhim nuqta: schema'da memberPassword maydoni select:false bo'lgani uchun u odatdagi so'rovlarda qaytmaydi. Shuning uchun .select('+memberPassword') bilan parolni atayin qo'shimcha so'rab olamiz. Agar bunday nickli a'zo topilmasa — new Errors(NOT_FOUND, NO_MEMBER_NICK).</a:t>
            </a:r>
            <a:endParaRPr lang="en-US" sz="12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50" dirty="0">
                <a:solidFill>
                  <a:srgbClr val="D4D4D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So'ng bcrypt.compare(input.memberPassword, member.memberPassword) foydalanuvchi kiritgan ochiq parolni bazadagi hash bilan solishtirib true yoki false qaytaradi (hashni teskari ochib bo'lmaydi). Mos kelmasa — Errors(UNAUTHORIZED, WRONG_PASSWORD).</a:t>
            </a:r>
            <a:endParaRPr lang="en-US" sz="12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50" dirty="0">
                <a:solidFill>
                  <a:srgbClr val="D4D4D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Hammasi joyida bo'lsa, this.memberModel.findById(member._id) bilan to'liq profil qayta o'qib, controllerga qaytariladi.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E1E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47472" y="237744"/>
            <a:ext cx="1280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C3C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06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1417320" y="310896"/>
            <a:ext cx="896112" cy="420624"/>
          </a:xfrm>
          <a:prstGeom prst="roundRect">
            <a:avLst>
              <a:gd name="adj" fmla="val 10870"/>
            </a:avLst>
          </a:prstGeom>
          <a:solidFill>
            <a:srgbClr val="569CD6"/>
          </a:solidFill>
          <a:ln/>
        </p:spPr>
      </p:sp>
      <p:sp>
        <p:nvSpPr>
          <p:cNvPr id="4" name="Text 2"/>
          <p:cNvSpPr/>
          <p:nvPr/>
        </p:nvSpPr>
        <p:spPr>
          <a:xfrm>
            <a:off x="1417320" y="310896"/>
            <a:ext cx="89611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1E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2423160" y="310896"/>
            <a:ext cx="52120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/admin/logout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818120" y="310896"/>
            <a:ext cx="3977640" cy="420624"/>
          </a:xfrm>
          <a:prstGeom prst="roundRect">
            <a:avLst>
              <a:gd name="adj" fmla="val 10870"/>
            </a:avLst>
          </a:prstGeom>
          <a:solidFill>
            <a:srgbClr val="252526"/>
          </a:solidFill>
          <a:ln w="15875">
            <a:solidFill>
              <a:srgbClr val="4EC9B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18120" y="31089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CONTROLLER · restaurant.controller.ts:145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47472" y="960120"/>
            <a:ext cx="6217920" cy="5532120"/>
          </a:xfrm>
          <a:prstGeom prst="rect">
            <a:avLst/>
          </a:prstGeom>
          <a:solidFill>
            <a:srgbClr val="1A1A1A"/>
          </a:solidFill>
          <a:ln w="12700">
            <a:solidFill>
              <a:srgbClr val="3C3C3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47472" y="960120"/>
            <a:ext cx="6217920" cy="54864"/>
          </a:xfrm>
          <a:prstGeom prst="rect">
            <a:avLst/>
          </a:prstGeom>
          <a:solidFill>
            <a:srgbClr val="4EC9B0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1152144"/>
            <a:ext cx="5897880" cy="5257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restaurantController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logout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async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req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AdminRequest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Response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=&gt;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try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console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('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logout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');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req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session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destroy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(()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=&gt;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redirect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('/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admin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');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});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catch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err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console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('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Error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logout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:',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err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redirect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('/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admin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');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};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6812280" y="987552"/>
            <a:ext cx="4983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EC9B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Kod tahlili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6812280" y="1389888"/>
            <a:ext cx="4937760" cy="0"/>
          </a:xfrm>
          <a:prstGeom prst="line">
            <a:avLst/>
          </a:prstGeom>
          <a:noFill/>
          <a:ln w="12700">
            <a:solidFill>
              <a:srgbClr val="3C3C3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812280" y="1517904"/>
            <a:ext cx="5010912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250" dirty="0">
                <a:solidFill>
                  <a:srgbClr val="D4D4D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logout — async metod, GET /admin/logout yo'lagida ishlaydi. Vazifasi — foydalanuvchini tizimdan chiqarish.</a:t>
            </a:r>
            <a:endParaRPr lang="en-US" sz="12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50" dirty="0">
                <a:solidFill>
                  <a:srgbClr val="D4D4D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try ichida req.session.destroy() chaqiriladi. Bu sessiyani MongoDB dagi 'sessions' kolleksiyasidan butunlay o'chiradi — endi foydalanuvchi himoyalangan sahifalarga kira olmaydi.</a:t>
            </a:r>
            <a:endParaRPr lang="en-US" sz="12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50" dirty="0">
                <a:solidFill>
                  <a:srgbClr val="D4D4D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destroy tugagach uning callbackida res.redirect('/admin') ishlaydi va foydalanuvchi bosh sahifaga (chiqqan holatga) qaytadi. Xato bo'lsa ham catch yana /admin ga redirect qiladi.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E1E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47472" y="237744"/>
            <a:ext cx="1280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C3C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07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1417320" y="310896"/>
            <a:ext cx="896112" cy="420624"/>
          </a:xfrm>
          <a:prstGeom prst="roundRect">
            <a:avLst>
              <a:gd name="adj" fmla="val 10870"/>
            </a:avLst>
          </a:prstGeom>
          <a:solidFill>
            <a:srgbClr val="569CD6"/>
          </a:solidFill>
          <a:ln/>
        </p:spPr>
      </p:sp>
      <p:sp>
        <p:nvSpPr>
          <p:cNvPr id="4" name="Text 2"/>
          <p:cNvSpPr/>
          <p:nvPr/>
        </p:nvSpPr>
        <p:spPr>
          <a:xfrm>
            <a:off x="1417320" y="310896"/>
            <a:ext cx="89611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1E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2423160" y="310896"/>
            <a:ext cx="52120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/admin/check-me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818120" y="310896"/>
            <a:ext cx="3977640" cy="420624"/>
          </a:xfrm>
          <a:prstGeom prst="roundRect">
            <a:avLst>
              <a:gd name="adj" fmla="val 10870"/>
            </a:avLst>
          </a:prstGeom>
          <a:solidFill>
            <a:srgbClr val="252526"/>
          </a:solidFill>
          <a:ln w="15875">
            <a:solidFill>
              <a:srgbClr val="4EC9B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18120" y="31089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CONTROLLER · restaurant.controller.ts:219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47472" y="960120"/>
            <a:ext cx="6217920" cy="5532120"/>
          </a:xfrm>
          <a:prstGeom prst="rect">
            <a:avLst/>
          </a:prstGeom>
          <a:solidFill>
            <a:srgbClr val="1A1A1A"/>
          </a:solidFill>
          <a:ln w="12700">
            <a:solidFill>
              <a:srgbClr val="3C3C3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47472" y="960120"/>
            <a:ext cx="6217920" cy="54864"/>
          </a:xfrm>
          <a:prstGeom prst="rect">
            <a:avLst/>
          </a:prstGeom>
          <a:solidFill>
            <a:srgbClr val="4EC9B0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1152144"/>
            <a:ext cx="5897880" cy="5257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restaurantController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checkAuthSession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async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req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AdminRequest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Response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=&gt;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try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req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session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?.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member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send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(`&lt;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script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alert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"${req.session.member.memberNick}"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&lt;/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script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&gt;`);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else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send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(`&lt;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script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alert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"${Message.NOT_AUTHENTICATED}"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&lt;/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script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&gt;`);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catch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err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send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err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};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6812280" y="987552"/>
            <a:ext cx="4983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EC9B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Kod tahlili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6812280" y="1389888"/>
            <a:ext cx="4937760" cy="0"/>
          </a:xfrm>
          <a:prstGeom prst="line">
            <a:avLst/>
          </a:prstGeom>
          <a:noFill/>
          <a:ln w="12700">
            <a:solidFill>
              <a:srgbClr val="3C3C3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812280" y="1517904"/>
            <a:ext cx="5010912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250" dirty="0">
                <a:solidFill>
                  <a:srgbClr val="D4D4D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checkAuthSession — sessiya bor-yo'qligini tez tekshiradigan metod, GET /admin/check-me. U bazaga umuman bormaydi — faqat sessiyaga qaraydi.</a:t>
            </a:r>
            <a:endParaRPr lang="en-US" sz="12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50" dirty="0">
                <a:solidFill>
                  <a:srgbClr val="D4D4D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if (req.session?.member) — agar sessiyada member bo'lsa (ya'ni foydalanuvchi tizimga kirgan bo'lsa), res.send orqali alert ichida o'sha foydalanuvchining memberNick i chiqariladi.</a:t>
            </a:r>
            <a:endParaRPr lang="en-US" sz="12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50" dirty="0">
                <a:solidFill>
                  <a:srgbClr val="D4D4D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Aks holda else tarmog'i ishlab, alert ichida Message.NOT_AUTHENTICATED ('siz tizimga kirmagansiz') xabari chiqariladi.</a:t>
            </a:r>
            <a:endParaRPr lang="en-US" sz="12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50" dirty="0">
                <a:solidFill>
                  <a:srgbClr val="D4D4D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Javob — tayyor &lt;script&gt;alert(...)&lt;/script&gt; matni: brauzer uni olib darrov alert oynasini ko'rsatadi.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E1E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47472" y="237744"/>
            <a:ext cx="1280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C3C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08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1417320" y="310896"/>
            <a:ext cx="896112" cy="420624"/>
          </a:xfrm>
          <a:prstGeom prst="roundRect">
            <a:avLst>
              <a:gd name="adj" fmla="val 10870"/>
            </a:avLst>
          </a:prstGeom>
          <a:solidFill>
            <a:srgbClr val="569CD6"/>
          </a:solidFill>
          <a:ln/>
        </p:spPr>
      </p:sp>
      <p:sp>
        <p:nvSpPr>
          <p:cNvPr id="4" name="Text 2"/>
          <p:cNvSpPr/>
          <p:nvPr/>
        </p:nvSpPr>
        <p:spPr>
          <a:xfrm>
            <a:off x="1417320" y="310896"/>
            <a:ext cx="89611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1E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2423160" y="310896"/>
            <a:ext cx="52120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/admin/product/all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818120" y="310896"/>
            <a:ext cx="3977640" cy="420624"/>
          </a:xfrm>
          <a:prstGeom prst="roundRect">
            <a:avLst>
              <a:gd name="adj" fmla="val 10870"/>
            </a:avLst>
          </a:prstGeom>
          <a:solidFill>
            <a:srgbClr val="252526"/>
          </a:solidFill>
          <a:ln w="15875">
            <a:solidFill>
              <a:srgbClr val="4EC9B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18120" y="31089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CONTROLLER · product.controllers.ts:44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47472" y="960120"/>
            <a:ext cx="6217920" cy="5532120"/>
          </a:xfrm>
          <a:prstGeom prst="rect">
            <a:avLst/>
          </a:prstGeom>
          <a:solidFill>
            <a:srgbClr val="1A1A1A"/>
          </a:solidFill>
          <a:ln w="12700">
            <a:solidFill>
              <a:srgbClr val="3C3C3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47472" y="960120"/>
            <a:ext cx="6217920" cy="54864"/>
          </a:xfrm>
          <a:prstGeom prst="rect">
            <a:avLst/>
          </a:prstGeom>
          <a:solidFill>
            <a:srgbClr val="4EC9B0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1152144"/>
            <a:ext cx="5897880" cy="5257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productController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getAllProducts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async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req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Request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Response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=&gt;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try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console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('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getAllProducts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');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productService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getAllProducts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();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console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('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:',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render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('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products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',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products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});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catch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err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err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instanceof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Errors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status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err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code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).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json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err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else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status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Errors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standard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code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).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json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};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6812280" y="987552"/>
            <a:ext cx="4983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EC9B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Kod tahlili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6812280" y="1389888"/>
            <a:ext cx="4937760" cy="0"/>
          </a:xfrm>
          <a:prstGeom prst="line">
            <a:avLst/>
          </a:prstGeom>
          <a:noFill/>
          <a:ln w="12700">
            <a:solidFill>
              <a:srgbClr val="3C3C3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812280" y="1517904"/>
            <a:ext cx="5010912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250" dirty="0">
                <a:solidFill>
                  <a:srgbClr val="D4D4D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verifyRestaurant middleware'dan muvaffaqiyatli o'tilgandan so'ng productController obyektining getAllProducts metodi ishga tushadi. Bu async metod req va res ni oladi, standartga ko'ra butun mantiq try-catch ichida.</a:t>
            </a:r>
            <a:endParaRPr lang="en-US" sz="12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50" dirty="0">
                <a:solidFill>
                  <a:srgbClr val="D4D4D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try ichida eng asosiy qator: const data = await productService.getAllProducts() — service qatlamidagi metod chaqirilib, baza javobi await bilan kutiladi va natija data ga olinadi.</a:t>
            </a:r>
            <a:endParaRPr lang="en-US" sz="12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50" dirty="0">
                <a:solidFill>
                  <a:srgbClr val="D4D4D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Natija tayyor bo'lgach, res.render('products', { products: data }) orqali products.ejs sahifasi server tomonida HTML qilib yasaladi va data unga 'products' nomi bilan uzatiladi (SSR).</a:t>
            </a:r>
            <a:endParaRPr lang="en-US" sz="12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50" dirty="0">
                <a:solidFill>
                  <a:srgbClr val="D4D4D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catch tarmog'ida: agar xato Errors tipida bo'lsa res.status(err.code).json(err) bilan o'sha kod qaytariladi, aks holda standart 500 xato ishlatiladi.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E1E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47472" y="237744"/>
            <a:ext cx="1280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C3C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08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1417320" y="310896"/>
            <a:ext cx="896112" cy="420624"/>
          </a:xfrm>
          <a:prstGeom prst="roundRect">
            <a:avLst>
              <a:gd name="adj" fmla="val 10870"/>
            </a:avLst>
          </a:prstGeom>
          <a:solidFill>
            <a:srgbClr val="569CD6"/>
          </a:solidFill>
          <a:ln/>
        </p:spPr>
      </p:sp>
      <p:sp>
        <p:nvSpPr>
          <p:cNvPr id="4" name="Text 2"/>
          <p:cNvSpPr/>
          <p:nvPr/>
        </p:nvSpPr>
        <p:spPr>
          <a:xfrm>
            <a:off x="1417320" y="310896"/>
            <a:ext cx="89611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1E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2423160" y="310896"/>
            <a:ext cx="52120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/admin/product/all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818120" y="310896"/>
            <a:ext cx="3977640" cy="420624"/>
          </a:xfrm>
          <a:prstGeom prst="roundRect">
            <a:avLst>
              <a:gd name="adj" fmla="val 10870"/>
            </a:avLst>
          </a:prstGeom>
          <a:solidFill>
            <a:srgbClr val="252526"/>
          </a:solidFill>
          <a:ln w="15875">
            <a:solidFill>
              <a:srgbClr val="DCDCA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18120" y="31089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SERVICE · Product.service.ts:40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47472" y="960120"/>
            <a:ext cx="6217920" cy="5532120"/>
          </a:xfrm>
          <a:prstGeom prst="rect">
            <a:avLst/>
          </a:prstGeom>
          <a:solidFill>
            <a:srgbClr val="1A1A1A"/>
          </a:solidFill>
          <a:ln w="12700">
            <a:solidFill>
              <a:srgbClr val="3C3C3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47472" y="960120"/>
            <a:ext cx="6217920" cy="54864"/>
          </a:xfrm>
          <a:prstGeom prst="rect">
            <a:avLst/>
          </a:prstGeom>
          <a:solidFill>
            <a:srgbClr val="DCDCAA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1152144"/>
            <a:ext cx="5897880" cy="5257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async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getAllProducts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():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Promise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Product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[]&gt;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this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productModel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find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().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exec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();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(!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throw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Errors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HttpCode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NOT_FOUND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Message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NO_DATA_FOUND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console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('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:',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6812280" y="987552"/>
            <a:ext cx="4983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CDCA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Kod tahlili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6812280" y="1389888"/>
            <a:ext cx="4937760" cy="0"/>
          </a:xfrm>
          <a:prstGeom prst="line">
            <a:avLst/>
          </a:prstGeom>
          <a:noFill/>
          <a:ln w="12700">
            <a:solidFill>
              <a:srgbClr val="3C3C3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812280" y="1517904"/>
            <a:ext cx="5010912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250" dirty="0">
                <a:solidFill>
                  <a:srgbClr val="D4D4D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ProductService classidagi getAllProducts metodi Promise&lt;Product[]&gt; (mahsulotlar massivi) qaytaradi. Uning ishi sodda.</a:t>
            </a:r>
            <a:endParaRPr lang="en-US" sz="12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50" dirty="0">
                <a:solidFill>
                  <a:srgbClr val="D4D4D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const result = await this.productModel.find().exec() — find() ning ichi bo'sh bo'lgani uchun 'products' kolleksiyasidagi BARCHA mahsulotlar olinadi. .exec() so'rovni haqiqiy Promise sifatida ishga tushiradi, await uni kutadi.</a:t>
            </a:r>
            <a:endParaRPr lang="en-US" sz="12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50" dirty="0">
                <a:solidFill>
                  <a:srgbClr val="D4D4D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if (!result) throw new Errors(NOT_FOUND, NO_DATA_FOUND) — agar natija umuman bo'lmasa xato otiladi.</a:t>
            </a:r>
            <a:endParaRPr lang="en-US" sz="12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50" dirty="0">
                <a:solidFill>
                  <a:srgbClr val="D4D4D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Aks holda result konsolga chiqarilib, controllerga qaytariladi va u yerda EJS sahifaga uzatiladi.</a:t>
            </a:r>
            <a:endParaRPr lang="en-US" sz="12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E1E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47472" y="237744"/>
            <a:ext cx="1280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C3C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09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1417320" y="310896"/>
            <a:ext cx="896112" cy="420624"/>
          </a:xfrm>
          <a:prstGeom prst="roundRect">
            <a:avLst>
              <a:gd name="adj" fmla="val 10870"/>
            </a:avLst>
          </a:prstGeom>
          <a:solidFill>
            <a:srgbClr val="CE9178"/>
          </a:solidFill>
          <a:ln/>
        </p:spPr>
      </p:sp>
      <p:sp>
        <p:nvSpPr>
          <p:cNvPr id="4" name="Text 2"/>
          <p:cNvSpPr/>
          <p:nvPr/>
        </p:nvSpPr>
        <p:spPr>
          <a:xfrm>
            <a:off x="1417320" y="310896"/>
            <a:ext cx="89611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1E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2423160" y="310896"/>
            <a:ext cx="52120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/admin/product/create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818120" y="310896"/>
            <a:ext cx="3977640" cy="420624"/>
          </a:xfrm>
          <a:prstGeom prst="roundRect">
            <a:avLst>
              <a:gd name="adj" fmla="val 10870"/>
            </a:avLst>
          </a:prstGeom>
          <a:solidFill>
            <a:srgbClr val="252526"/>
          </a:solidFill>
          <a:ln w="15875">
            <a:solidFill>
              <a:srgbClr val="4EC9B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18120" y="31089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CONTROLLER · product.controllers.ts:66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47472" y="960120"/>
            <a:ext cx="6217920" cy="5532120"/>
          </a:xfrm>
          <a:prstGeom prst="rect">
            <a:avLst/>
          </a:prstGeom>
          <a:solidFill>
            <a:srgbClr val="1A1A1A"/>
          </a:solidFill>
          <a:ln w="12700">
            <a:solidFill>
              <a:srgbClr val="3C3C3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47472" y="960120"/>
            <a:ext cx="6217920" cy="54864"/>
          </a:xfrm>
          <a:prstGeom prst="rect">
            <a:avLst/>
          </a:prstGeom>
          <a:solidFill>
            <a:srgbClr val="4EC9B0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1152144"/>
            <a:ext cx="5897880" cy="5257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productController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createNewProduct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endParaRPr lang="en-US" sz="11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async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req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AdminRequest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Response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=&gt;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1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try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1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(!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req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files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?.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length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1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throw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Errors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endParaRPr lang="en-US" sz="11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HttpCode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INTERNAL_SERVER_ERROR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1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Message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CREATE_FAILED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1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ProductInput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req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body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productImages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req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files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?.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map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endParaRPr lang="en-US" sz="11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ele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=&gt;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ele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path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replace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(/\\/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'/'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));</a:t>
            </a:r>
            <a:endParaRPr lang="en-US" sz="11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productService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createNewProduct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1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send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(`&lt;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script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alert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endParaRPr lang="en-US" sz="11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"Successful creation"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...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&lt;/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script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&gt;`);</a:t>
            </a:r>
            <a:endParaRPr lang="en-US" sz="11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catch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err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/*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alert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xabar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*/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};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812280" y="987552"/>
            <a:ext cx="4983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EC9B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Kod tahlili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6812280" y="1389888"/>
            <a:ext cx="4937760" cy="0"/>
          </a:xfrm>
          <a:prstGeom prst="line">
            <a:avLst/>
          </a:prstGeom>
          <a:noFill/>
          <a:ln w="12700">
            <a:solidFill>
              <a:srgbClr val="3C3C3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812280" y="1517904"/>
            <a:ext cx="5010912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250" dirty="0">
                <a:solidFill>
                  <a:srgbClr val="D4D4D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createNewProduct — async metod, POST /admin/product/create. Undan oldin verifyRestaurant va makeUploader('products').any() ishlaydi, shuning uchun req.files ichida yuklangan rasmlar allaqachon tayyor turadi.</a:t>
            </a:r>
            <a:endParaRPr lang="en-US" sz="12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50" dirty="0">
                <a:solidFill>
                  <a:srgbClr val="D4D4D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Avval if (!req.files?.length) tekshiriladi — birorta rasm yuklanmagan bo'lsa Errors(INTERNAL_SERVER_ERROR, CREATE_FAILED) otiladi.</a:t>
            </a:r>
            <a:endParaRPr lang="en-US" sz="12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50" dirty="0">
                <a:solidFill>
                  <a:srgbClr val="D4D4D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Keyin data = req.body olinadi. Eng muhimi: data.productImages = req.files.map(...) orqali har bir faylning path manzili olinib, teskari sleshlar (\) to'g'ri sleshga (/) almashtiriladi — natija rasm yo'llari massivi bo'ladi.</a:t>
            </a:r>
            <a:endParaRPr lang="en-US" sz="12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50" dirty="0">
                <a:solidFill>
                  <a:srgbClr val="D4D4D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So'ng await productService.createNewProduct(data) bilan bazaga yozish kutiladi va res.send orqali 'Successful creation' alert chiqarilib /admin/product/all ga qaytariladi. Xato bo'lsa ham alert bilan xabar beriladi.</a:t>
            </a:r>
            <a:endParaRPr lang="en-US" sz="1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E1E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47472" y="237744"/>
            <a:ext cx="1280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C3C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09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1417320" y="310896"/>
            <a:ext cx="896112" cy="420624"/>
          </a:xfrm>
          <a:prstGeom prst="roundRect">
            <a:avLst>
              <a:gd name="adj" fmla="val 10870"/>
            </a:avLst>
          </a:prstGeom>
          <a:solidFill>
            <a:srgbClr val="CE9178"/>
          </a:solidFill>
          <a:ln/>
        </p:spPr>
      </p:sp>
      <p:sp>
        <p:nvSpPr>
          <p:cNvPr id="4" name="Text 2"/>
          <p:cNvSpPr/>
          <p:nvPr/>
        </p:nvSpPr>
        <p:spPr>
          <a:xfrm>
            <a:off x="1417320" y="310896"/>
            <a:ext cx="89611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1E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2423160" y="310896"/>
            <a:ext cx="52120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/admin/product/create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818120" y="310896"/>
            <a:ext cx="3977640" cy="420624"/>
          </a:xfrm>
          <a:prstGeom prst="roundRect">
            <a:avLst>
              <a:gd name="adj" fmla="val 10870"/>
            </a:avLst>
          </a:prstGeom>
          <a:solidFill>
            <a:srgbClr val="252526"/>
          </a:solidFill>
          <a:ln w="15875">
            <a:solidFill>
              <a:srgbClr val="DCDCA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18120" y="31089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SERVICE · Product.service.ts:48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47472" y="960120"/>
            <a:ext cx="6217920" cy="5532120"/>
          </a:xfrm>
          <a:prstGeom prst="rect">
            <a:avLst/>
          </a:prstGeom>
          <a:solidFill>
            <a:srgbClr val="1A1A1A"/>
          </a:solidFill>
          <a:ln w="12700">
            <a:solidFill>
              <a:srgbClr val="3C3C3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47472" y="960120"/>
            <a:ext cx="6217920" cy="54864"/>
          </a:xfrm>
          <a:prstGeom prst="rect">
            <a:avLst/>
          </a:prstGeom>
          <a:solidFill>
            <a:srgbClr val="DCDCAA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1152144"/>
            <a:ext cx="5897880" cy="5257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async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createNewProduct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input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ProductInput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):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Promise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Product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try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this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productModel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create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input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catch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err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console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error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'ERROR, model: createNewProduct: '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err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throw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Errors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HttpCode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BAD_REQUEST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Message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CREATE_FAILED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6812280" y="987552"/>
            <a:ext cx="4983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CDCA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Kod tahlili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6812280" y="1389888"/>
            <a:ext cx="4937760" cy="0"/>
          </a:xfrm>
          <a:prstGeom prst="line">
            <a:avLst/>
          </a:prstGeom>
          <a:noFill/>
          <a:ln w="12700">
            <a:solidFill>
              <a:srgbClr val="3C3C3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812280" y="1517904"/>
            <a:ext cx="5010912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250" dirty="0">
                <a:solidFill>
                  <a:srgbClr val="D4D4D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Service'dagi createNewProduct ProductInput ni oladi va Promise&lt;Product&gt; qaytaradi. Butun mantiq try-catch ichida.</a:t>
            </a:r>
            <a:endParaRPr lang="en-US" sz="12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50" dirty="0">
                <a:solidFill>
                  <a:srgbClr val="D4D4D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return await this.productModel.create(input) — Mongoose'ning create metodi yangi mahsulot hujjatini 'products' kolleksiyasiga yozadi va yozilgan hujjatni qaytaradi.</a:t>
            </a:r>
            <a:endParaRPr lang="en-US" sz="12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50" dirty="0">
                <a:solidFill>
                  <a:srgbClr val="D4D4D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Agar yozishda xato bo'lsa — masalan, productName + productSize + productVolume unique indeksi takrorlansa (bir xil mahsulot ikki marta) — catch ishlab, konsolga xato yozilib new Errors(BAD_REQUEST, CREATE_FAILED) otiladi.</a:t>
            </a:r>
            <a:endParaRPr lang="en-US" sz="12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E1E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47472" y="237744"/>
            <a:ext cx="1280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C3C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10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1417320" y="310896"/>
            <a:ext cx="896112" cy="420624"/>
          </a:xfrm>
          <a:prstGeom prst="roundRect">
            <a:avLst>
              <a:gd name="adj" fmla="val 10870"/>
            </a:avLst>
          </a:prstGeom>
          <a:solidFill>
            <a:srgbClr val="CE9178"/>
          </a:solidFill>
          <a:ln/>
        </p:spPr>
      </p:sp>
      <p:sp>
        <p:nvSpPr>
          <p:cNvPr id="4" name="Text 2"/>
          <p:cNvSpPr/>
          <p:nvPr/>
        </p:nvSpPr>
        <p:spPr>
          <a:xfrm>
            <a:off x="1417320" y="310896"/>
            <a:ext cx="89611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1E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2423160" y="310896"/>
            <a:ext cx="52120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/admin/product/:id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818120" y="310896"/>
            <a:ext cx="3977640" cy="420624"/>
          </a:xfrm>
          <a:prstGeom prst="roundRect">
            <a:avLst>
              <a:gd name="adj" fmla="val 10870"/>
            </a:avLst>
          </a:prstGeom>
          <a:solidFill>
            <a:srgbClr val="252526"/>
          </a:solidFill>
          <a:ln w="15875">
            <a:solidFill>
              <a:srgbClr val="4EC9B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18120" y="31089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CONTROLLER · product.controllers.ts:106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47472" y="960120"/>
            <a:ext cx="6217920" cy="5532120"/>
          </a:xfrm>
          <a:prstGeom prst="rect">
            <a:avLst/>
          </a:prstGeom>
          <a:solidFill>
            <a:srgbClr val="1A1A1A"/>
          </a:solidFill>
          <a:ln w="12700">
            <a:solidFill>
              <a:srgbClr val="3C3C3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47472" y="960120"/>
            <a:ext cx="6217920" cy="54864"/>
          </a:xfrm>
          <a:prstGeom prst="rect">
            <a:avLst/>
          </a:prstGeom>
          <a:solidFill>
            <a:srgbClr val="4EC9B0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1152144"/>
            <a:ext cx="5897880" cy="5257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productController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updateChosenProduct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async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req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Request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Response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=&gt;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try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console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('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updateChosenProduct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');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req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params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string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productService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updateChosenProduct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req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body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status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HttpCode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OK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json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({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});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catch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err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err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instanceof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Errors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status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err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code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).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json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err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};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6812280" y="987552"/>
            <a:ext cx="4983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EC9B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Kod tahlili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6812280" y="1389888"/>
            <a:ext cx="4937760" cy="0"/>
          </a:xfrm>
          <a:prstGeom prst="line">
            <a:avLst/>
          </a:prstGeom>
          <a:noFill/>
          <a:ln w="12700">
            <a:solidFill>
              <a:srgbClr val="3C3C3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812280" y="1517904"/>
            <a:ext cx="5010912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250" dirty="0">
                <a:solidFill>
                  <a:srgbClr val="D4D4D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updateChosenProduct — async metod, POST /admin/product/:id. URL manzilining o'zida :id parametri bor (qaysi mahsulotni yangilash).</a:t>
            </a:r>
            <a:endParaRPr lang="en-US" sz="12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50" dirty="0">
                <a:solidFill>
                  <a:srgbClr val="D4D4D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const id = req.params.id as string — URL dagi :id qiymati olinadi va TypeScript uchun as string bilan satr (string) ekani belgilanadi.</a:t>
            </a:r>
            <a:endParaRPr lang="en-US" sz="12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50" dirty="0">
                <a:solidFill>
                  <a:srgbClr val="D4D4D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Keyin const result = await productService.updateChosenProduct(id, req.body) — id va yangilanadigan ma'lumotlar (req.body) service ga uzatiladi.</a:t>
            </a:r>
            <a:endParaRPr lang="en-US" sz="12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50" dirty="0">
                <a:solidFill>
                  <a:srgbClr val="D4D4D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Natija res.status(200).json({ data: result }) bilan JSON ko'rinishida qaytariladi — bu SSR emas, SPA / API javobi: frontend JavaScript uni qabul qilib o'zi sahifani yangilaydi. Xato bo'lsa Errors kodi yoki standart 500 qaytadi.</a:t>
            </a:r>
            <a:endParaRPr lang="en-US" sz="12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E1E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47472" y="237744"/>
            <a:ext cx="1280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C3C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10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1417320" y="310896"/>
            <a:ext cx="896112" cy="420624"/>
          </a:xfrm>
          <a:prstGeom prst="roundRect">
            <a:avLst>
              <a:gd name="adj" fmla="val 10870"/>
            </a:avLst>
          </a:prstGeom>
          <a:solidFill>
            <a:srgbClr val="CE9178"/>
          </a:solidFill>
          <a:ln/>
        </p:spPr>
      </p:sp>
      <p:sp>
        <p:nvSpPr>
          <p:cNvPr id="4" name="Text 2"/>
          <p:cNvSpPr/>
          <p:nvPr/>
        </p:nvSpPr>
        <p:spPr>
          <a:xfrm>
            <a:off x="1417320" y="310896"/>
            <a:ext cx="89611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1E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2423160" y="310896"/>
            <a:ext cx="52120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/admin/product/:id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818120" y="310896"/>
            <a:ext cx="3977640" cy="420624"/>
          </a:xfrm>
          <a:prstGeom prst="roundRect">
            <a:avLst>
              <a:gd name="adj" fmla="val 10870"/>
            </a:avLst>
          </a:prstGeom>
          <a:solidFill>
            <a:srgbClr val="252526"/>
          </a:solidFill>
          <a:ln w="15875">
            <a:solidFill>
              <a:srgbClr val="DCDCA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18120" y="31089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SERVICE · Product.service.ts:57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47472" y="960120"/>
            <a:ext cx="6217920" cy="5532120"/>
          </a:xfrm>
          <a:prstGeom prst="rect">
            <a:avLst/>
          </a:prstGeom>
          <a:solidFill>
            <a:srgbClr val="1A1A1A"/>
          </a:solidFill>
          <a:ln w="12700">
            <a:solidFill>
              <a:srgbClr val="3C3C3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47472" y="960120"/>
            <a:ext cx="6217920" cy="54864"/>
          </a:xfrm>
          <a:prstGeom prst="rect">
            <a:avLst/>
          </a:prstGeom>
          <a:solidFill>
            <a:srgbClr val="DCDCAA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1152144"/>
            <a:ext cx="5897880" cy="5257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async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updateChosenProduct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string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input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ProductUpdateInput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):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Promise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Product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shapeIntoMongooseObjectId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this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productModel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findOneAndUpdate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_id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},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input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true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})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exec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();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(!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throw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Errors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HttpCode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BAD_REQUEST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Message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UPDATE_FAILED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6812280" y="987552"/>
            <a:ext cx="4983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CDCA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Kod tahlili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6812280" y="1389888"/>
            <a:ext cx="4937760" cy="0"/>
          </a:xfrm>
          <a:prstGeom prst="line">
            <a:avLst/>
          </a:prstGeom>
          <a:noFill/>
          <a:ln w="12700">
            <a:solidFill>
              <a:srgbClr val="3C3C3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812280" y="1517904"/>
            <a:ext cx="5010912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250" dirty="0">
                <a:solidFill>
                  <a:srgbClr val="D4D4D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Service'dagi updateChosenProduct id (string) va ProductUpdateInput ni oladi.</a:t>
            </a:r>
            <a:endParaRPr lang="en-US" sz="12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50" dirty="0">
                <a:solidFill>
                  <a:srgbClr val="D4D4D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Eng muhim qator: id = shapeIntoMongooseObjectId(id) — Postman yoki URL dan kelgan oddiy satr id ni MongoDB tushunadigan haqiqiy ObjectId tipiga aylantiradi. Busiz { _id: 'string' } bo'yicha qidiruv hujjatni TOPMAYDI.</a:t>
            </a:r>
            <a:endParaRPr lang="en-US" sz="12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50" dirty="0">
                <a:solidFill>
                  <a:srgbClr val="D4D4D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findOneAndUpdate({ _id: id }, input, { new: true }) — hujjatni topib yangilaydi. { new: true } juda muhim: u yangilanishdan KEYINgi (yangi) hujjatni qaytaradi; busiz eski nusxa qaytar edi.</a:t>
            </a:r>
            <a:endParaRPr lang="en-US" sz="12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50" dirty="0">
                <a:solidFill>
                  <a:srgbClr val="D4D4D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if (!result) bo'lsa Errors(BAD_REQUEST, UPDATE_FAILED) otiladi. Aks holda yangilangan mahsulot controllerga qaytadi.</a:t>
            </a:r>
            <a:endParaRPr lang="en-US" sz="12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E1E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47472" y="237744"/>
            <a:ext cx="1280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C3C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11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1417320" y="310896"/>
            <a:ext cx="896112" cy="420624"/>
          </a:xfrm>
          <a:prstGeom prst="roundRect">
            <a:avLst>
              <a:gd name="adj" fmla="val 10870"/>
            </a:avLst>
          </a:prstGeom>
          <a:solidFill>
            <a:srgbClr val="569CD6"/>
          </a:solidFill>
          <a:ln/>
        </p:spPr>
      </p:sp>
      <p:sp>
        <p:nvSpPr>
          <p:cNvPr id="4" name="Text 2"/>
          <p:cNvSpPr/>
          <p:nvPr/>
        </p:nvSpPr>
        <p:spPr>
          <a:xfrm>
            <a:off x="1417320" y="310896"/>
            <a:ext cx="89611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1E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2423160" y="310896"/>
            <a:ext cx="52120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/admin/user/all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818120" y="310896"/>
            <a:ext cx="3977640" cy="420624"/>
          </a:xfrm>
          <a:prstGeom prst="roundRect">
            <a:avLst>
              <a:gd name="adj" fmla="val 10870"/>
            </a:avLst>
          </a:prstGeom>
          <a:solidFill>
            <a:srgbClr val="252526"/>
          </a:solidFill>
          <a:ln w="15875">
            <a:solidFill>
              <a:srgbClr val="4EC9B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18120" y="31089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CONTROLLER + SERVICE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47472" y="960120"/>
            <a:ext cx="6217920" cy="5532120"/>
          </a:xfrm>
          <a:prstGeom prst="rect">
            <a:avLst/>
          </a:prstGeom>
          <a:solidFill>
            <a:srgbClr val="1A1A1A"/>
          </a:solidFill>
          <a:ln w="12700">
            <a:solidFill>
              <a:srgbClr val="3C3C3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47472" y="960120"/>
            <a:ext cx="6217920" cy="54864"/>
          </a:xfrm>
          <a:prstGeom prst="rect">
            <a:avLst/>
          </a:prstGeom>
          <a:solidFill>
            <a:srgbClr val="4EC9B0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1152144"/>
            <a:ext cx="5897880" cy="5257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i="1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CONTROLLER (restaurant.controller.ts:158)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restaurantController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getUsers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async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req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Request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Response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=&gt;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try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memberService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getUsers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();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render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('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users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',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users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});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catch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err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redirect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('/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admin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login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');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};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i="1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SERVICE (Member.service.ts:200)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async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getUsers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():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Promise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Member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[]&gt;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this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memberModel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find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({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memberType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MemberType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})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exec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();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(!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throw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Errors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HttpCode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NOT_FOUND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Message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NO_DATA_FOUND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6812280" y="987552"/>
            <a:ext cx="4983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EC9B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Kod tahlili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6812280" y="1389888"/>
            <a:ext cx="4937760" cy="0"/>
          </a:xfrm>
          <a:prstGeom prst="line">
            <a:avLst/>
          </a:prstGeom>
          <a:noFill/>
          <a:ln w="12700">
            <a:solidFill>
              <a:srgbClr val="3C3C3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812280" y="1517904"/>
            <a:ext cx="5010912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250" dirty="0">
                <a:solidFill>
                  <a:srgbClr val="D4D4D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 endpoint — GET /admin/user/all — barcha oddiy foydalanuvchilarni ro'yxat qilib ko'rsatadi. verifyRestaurant dan o'tgach controllerdagi getUsers ishlaydi.</a:t>
            </a:r>
            <a:endParaRPr lang="en-US" sz="12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50" dirty="0">
                <a:solidFill>
                  <a:srgbClr val="D4D4D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Controller: const result = await memberService.getUsers() bilan ro'yxat olinadi, so'ng res.render('users', { users: result }) orqali users.ejs sahifasi yasaladi (SSR).</a:t>
            </a:r>
            <a:endParaRPr lang="en-US" sz="12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50" dirty="0">
                <a:solidFill>
                  <a:srgbClr val="D4D4D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Service: this.memberModel.find({ memberType: MemberType.USER }) — bu yerda filtr bor: faqat turi USER bo'lgan a'zolar olinadi (RESTAURANT lar emas). .exec() so'rovni bajaradi.</a:t>
            </a:r>
            <a:endParaRPr lang="en-US" sz="12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50" dirty="0">
                <a:solidFill>
                  <a:srgbClr val="D4D4D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if (!result) bo'lsa Errors(NOT_FOUND, NO_DATA_FOUND) otiladi, aks holda ro'yxat controllerga, undan EJS ga qaytadi.</a:t>
            </a:r>
            <a:endParaRPr lang="en-US" sz="12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E1E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47472" y="237744"/>
            <a:ext cx="1280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C3C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12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1417320" y="310896"/>
            <a:ext cx="896112" cy="420624"/>
          </a:xfrm>
          <a:prstGeom prst="roundRect">
            <a:avLst>
              <a:gd name="adj" fmla="val 10870"/>
            </a:avLst>
          </a:prstGeom>
          <a:solidFill>
            <a:srgbClr val="CE9178"/>
          </a:solidFill>
          <a:ln/>
        </p:spPr>
      </p:sp>
      <p:sp>
        <p:nvSpPr>
          <p:cNvPr id="4" name="Text 2"/>
          <p:cNvSpPr/>
          <p:nvPr/>
        </p:nvSpPr>
        <p:spPr>
          <a:xfrm>
            <a:off x="1417320" y="310896"/>
            <a:ext cx="89611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1E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2423160" y="310896"/>
            <a:ext cx="52120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/admin/user/edit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818120" y="310896"/>
            <a:ext cx="3977640" cy="420624"/>
          </a:xfrm>
          <a:prstGeom prst="roundRect">
            <a:avLst>
              <a:gd name="adj" fmla="val 10870"/>
            </a:avLst>
          </a:prstGeom>
          <a:solidFill>
            <a:srgbClr val="252526"/>
          </a:solidFill>
          <a:ln w="15875">
            <a:solidFill>
              <a:srgbClr val="4EC9B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18120" y="31089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CONTROLLER + SERVICE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47472" y="960120"/>
            <a:ext cx="6217920" cy="5532120"/>
          </a:xfrm>
          <a:prstGeom prst="rect">
            <a:avLst/>
          </a:prstGeom>
          <a:solidFill>
            <a:srgbClr val="1A1A1A"/>
          </a:solidFill>
          <a:ln w="12700">
            <a:solidFill>
              <a:srgbClr val="3C3C3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47472" y="960120"/>
            <a:ext cx="6217920" cy="54864"/>
          </a:xfrm>
          <a:prstGeom prst="rect">
            <a:avLst/>
          </a:prstGeom>
          <a:solidFill>
            <a:srgbClr val="4EC9B0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1152144"/>
            <a:ext cx="5897880" cy="5257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i="1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CONTROLLER (restaurant.controller.ts:171)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restaurantController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updateChosenUser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async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req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AdminRequest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Response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=&gt;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try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memberService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updateChosenUser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req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body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status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HttpCode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OK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json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({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});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catch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err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err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instanceof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Errors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status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err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code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).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json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err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};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i="1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SERVICE (Member.service.ts:208)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async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updateChosenUser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input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MemberUpdateInput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):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Promise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Member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input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_id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shapeIntoMongooseObjectId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input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_id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this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memberModel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findByIdAndUpdate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_id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input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_id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},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input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true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});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6812280" y="987552"/>
            <a:ext cx="4983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EC9B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Kod tahlili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6812280" y="1389888"/>
            <a:ext cx="4937760" cy="0"/>
          </a:xfrm>
          <a:prstGeom prst="line">
            <a:avLst/>
          </a:prstGeom>
          <a:noFill/>
          <a:ln w="12700">
            <a:solidFill>
              <a:srgbClr val="3C3C3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812280" y="1517904"/>
            <a:ext cx="5010912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200" dirty="0">
                <a:solidFill>
                  <a:srgbClr val="D4D4D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POST /admin/user/edit — foydalanuvchini tahrirlaydi (masalan, statusini o'zgartiradi). verifyRestaurant dan o'tib controllerdagi updateChosenUser ishlaydi.</a:t>
            </a:r>
            <a:endParaRPr lang="en-US" sz="12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00" dirty="0">
                <a:solidFill>
                  <a:srgbClr val="D4D4D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Controller: req.body (MemberUpdateInput — _id, memberStatus va h.k.) to'g'ridan memberService.updateChosenUser ga beriladi, natija res.status(200).json({ data: result }) bilan JSON qaytariladi (SPA).</a:t>
            </a:r>
            <a:endParaRPr lang="en-US" sz="12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00" dirty="0">
                <a:solidFill>
                  <a:srgbClr val="D4D4D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Service: avval input._id = shapeIntoMongooseObjectId(input._id) — satr id ObjectId ga aylantiriladi. So'ng findByIdAndUpdate({ _id: input._id }, input, { new: true }) bilan topib yangilanadi va { new: true } tufayli yangi nusxa qaytadi.</a:t>
            </a:r>
            <a:endParaRPr lang="en-US" sz="12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00" dirty="0">
                <a:solidFill>
                  <a:srgbClr val="D4D4D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if (!result) bo'lsa Errors(BAD_REQUEST, UPDATE_FAILED) otiladi.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E1E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Tushuncha: verifyRestaurant middleware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58368" y="10058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5858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restaurant.controller.ts:260 — har bir /product/* va /user/* endpointidan OLDIN ishlaydi.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10881360" cy="868680"/>
          </a:xfrm>
          <a:prstGeom prst="roundRect">
            <a:avLst>
              <a:gd name="adj" fmla="val 6316"/>
            </a:avLst>
          </a:prstGeom>
          <a:solidFill>
            <a:srgbClr val="252526"/>
          </a:solidFill>
          <a:ln w="15875">
            <a:solidFill>
              <a:srgbClr val="569CD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600200"/>
            <a:ext cx="10332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req.session?.member?.memberType === MemberType.RESTAURANT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640080" y="2788920"/>
            <a:ext cx="5349240" cy="2743200"/>
          </a:xfrm>
          <a:prstGeom prst="roundRect">
            <a:avLst>
              <a:gd name="adj" fmla="val 2000"/>
            </a:avLst>
          </a:prstGeom>
          <a:solidFill>
            <a:srgbClr val="252526"/>
          </a:solidFill>
          <a:ln w="19050">
            <a:solidFill>
              <a:srgbClr val="4EC9B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2971800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✓  TRUE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914400" y="3611880"/>
            <a:ext cx="475488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req.member = req.session.member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next()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5858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So'rov keyingi controllerga o'tadi.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172200" y="2788920"/>
            <a:ext cx="5349240" cy="2743200"/>
          </a:xfrm>
          <a:prstGeom prst="roundRect">
            <a:avLst>
              <a:gd name="adj" fmla="val 2000"/>
            </a:avLst>
          </a:prstGeom>
          <a:solidFill>
            <a:srgbClr val="252526"/>
          </a:solidFill>
          <a:ln w="19050">
            <a:solidFill>
              <a:srgbClr val="F4474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46520" y="2971800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447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✕  FALSE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6446520" y="3611880"/>
            <a:ext cx="475488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447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alert('NOT_AUTHENTICATED')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window.location.replace('/admin/login')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5858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Controllerga umuman yetib bormaydi.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40080" y="585216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585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Himoyalangan: /product/all · /product/create · /product/:id · /user/all · /user/edit</a:t>
            </a:r>
            <a:endParaRPr lang="en-US" sz="13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E1E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Tushuncha: bcrypt — parolni xavfsiz saqlash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40080" y="1463040"/>
            <a:ext cx="128016" cy="1783080"/>
          </a:xfrm>
          <a:prstGeom prst="rect">
            <a:avLst/>
          </a:prstGeom>
          <a:solidFill>
            <a:srgbClr val="DCDCAA"/>
          </a:solidFill>
          <a:ln/>
        </p:spPr>
      </p:sp>
      <p:sp>
        <p:nvSpPr>
          <p:cNvPr id="4" name="Shape 2"/>
          <p:cNvSpPr/>
          <p:nvPr/>
        </p:nvSpPr>
        <p:spPr>
          <a:xfrm>
            <a:off x="768096" y="1463040"/>
            <a:ext cx="10753344" cy="1783080"/>
          </a:xfrm>
          <a:prstGeom prst="rect">
            <a:avLst/>
          </a:prstGeom>
          <a:solidFill>
            <a:srgbClr val="252526"/>
          </a:solidFill>
          <a:ln w="12700">
            <a:solidFill>
              <a:srgbClr val="3C3C3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1572768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SIGNUP  →  hash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05840" y="2057400"/>
            <a:ext cx="100584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"password123"  →  bcrypt.genSalt()  →  "$2b$10$salt..."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bcrypt.hash("password123", salt)  →  "$2b$10$hash..."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memberModel.create()  →  MongoDB ga HASH saqlanadi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3474720"/>
            <a:ext cx="128016" cy="1783080"/>
          </a:xfrm>
          <a:prstGeom prst="rect">
            <a:avLst/>
          </a:prstGeom>
          <a:solidFill>
            <a:srgbClr val="4EC9B0"/>
          </a:solidFill>
          <a:ln/>
        </p:spPr>
      </p:sp>
      <p:sp>
        <p:nvSpPr>
          <p:cNvPr id="8" name="Shape 6"/>
          <p:cNvSpPr/>
          <p:nvPr/>
        </p:nvSpPr>
        <p:spPr>
          <a:xfrm>
            <a:off x="768096" y="3474720"/>
            <a:ext cx="10753344" cy="1783080"/>
          </a:xfrm>
          <a:prstGeom prst="rect">
            <a:avLst/>
          </a:prstGeom>
          <a:solidFill>
            <a:srgbClr val="252526"/>
          </a:solidFill>
          <a:ln w="12700">
            <a:solidFill>
              <a:srgbClr val="3C3C3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05840" y="3584448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LOGIN  →  compare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005840" y="4069080"/>
            <a:ext cx="100584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bcrypt.compare("password123",  "$2b$10$hash...")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 true  yoki  false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5858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Hashni qayta ochib bo'lmaydi — faqat solishtiriladi (bir tomonlama).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0080" y="55778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585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Schema: memberPassword → select:false — odatdagi so'rovlarda qaytarilmaydi.</a:t>
            </a:r>
            <a:endParaRPr lang="en-US" sz="13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E1E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Tushuncha: ObjectId  &amp;  { new: true }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40080" y="1280160"/>
            <a:ext cx="5349240" cy="4480560"/>
          </a:xfrm>
          <a:prstGeom prst="roundRect">
            <a:avLst>
              <a:gd name="adj" fmla="val 1224"/>
            </a:avLst>
          </a:prstGeom>
          <a:solidFill>
            <a:srgbClr val="252526"/>
          </a:solidFill>
          <a:ln w="15875">
            <a:solidFill>
              <a:srgbClr val="DCDCA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68680" y="146304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shapeIntoMongooseObjectId()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68680" y="2057400"/>
            <a:ext cx="493776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Postman:  "6a2d0a86..."  (oddiy string)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MongoDB:  ObjectId("6a2d0a86...")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8585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(ObjectId tipi)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868680" y="3429000"/>
            <a:ext cx="4892040" cy="0"/>
          </a:xfrm>
          <a:prstGeom prst="line">
            <a:avLst/>
          </a:prstGeom>
          <a:noFill/>
          <a:ln w="12700">
            <a:solidFill>
              <a:srgbClr val="3C3C3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3611880"/>
            <a:ext cx="493776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447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findOneAndUpdate({_id: "string"})  →  topilmaydi ✕</a:t>
            </a:r>
            <a:endParaRPr lang="en-US" sz="1250" dirty="0"/>
          </a:p>
          <a:p>
            <a:pPr indent="0" marL="0">
              <a:buNone/>
            </a:pP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findOneAndUpdate({_id: ObjectId(...)})  →  topiladi ✓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172200" y="1280160"/>
            <a:ext cx="5349240" cy="4480560"/>
          </a:xfrm>
          <a:prstGeom prst="roundRect">
            <a:avLst>
              <a:gd name="adj" fmla="val 1224"/>
            </a:avLst>
          </a:prstGeom>
          <a:solidFill>
            <a:srgbClr val="252526"/>
          </a:solidFill>
          <a:ln w="15875">
            <a:solidFill>
              <a:srgbClr val="CE917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0" y="146304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 new: true }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400800" y="2057400"/>
            <a:ext cx="493776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447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 new: false }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5858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  yangilanishdan OLDINGI doc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 new: true }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4D4D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  yangilangandan KEYINgi doc ✓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00800" y="4251960"/>
            <a:ext cx="4937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D4D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Ishlatilgan joylar: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400800" y="4617720"/>
            <a:ext cx="49377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updateChosenProduct → findOneAndUpdate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updateChosenUser → findByIdAndUpdate</a:t>
            </a:r>
            <a:endParaRPr lang="en-US" sz="1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E1E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Tushuncha: SSR  vs  SPA — javob turlari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40080" y="1280160"/>
            <a:ext cx="5349240" cy="4480560"/>
          </a:xfrm>
          <a:prstGeom prst="roundRect">
            <a:avLst>
              <a:gd name="adj" fmla="val 1224"/>
            </a:avLst>
          </a:prstGeom>
          <a:solidFill>
            <a:srgbClr val="252526"/>
          </a:solidFill>
          <a:ln w="19050">
            <a:solidFill>
              <a:srgbClr val="6A995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68680" y="146304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A995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SSR  (Server Side Rendering)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68680" y="2011680"/>
            <a:ext cx="493776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res.render('products', { products })</a:t>
            </a:r>
            <a:endParaRPr lang="en-US" sz="1250" dirty="0"/>
          </a:p>
          <a:p>
            <a:pPr indent="0" marL="0">
              <a:buNone/>
            </a:pPr>
            <a:r>
              <a:rPr lang="en-US" sz="1300" dirty="0">
                <a:solidFill>
                  <a:srgbClr val="D4D4D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Server tayyor HTML yasaydi → brauzer to'liq sahifani oladi.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868680" y="3200400"/>
            <a:ext cx="4892040" cy="0"/>
          </a:xfrm>
          <a:prstGeom prst="line">
            <a:avLst/>
          </a:prstGeom>
          <a:noFill/>
          <a:ln w="12700">
            <a:solidFill>
              <a:srgbClr val="3C3C3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3337560"/>
            <a:ext cx="4937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D4D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Endpointlar: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68680" y="3703320"/>
            <a:ext cx="493776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goHome · getSignup · getLogin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getAllProducts → products.ejs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getUsers → users.ejs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172200" y="1280160"/>
            <a:ext cx="5349240" cy="4480560"/>
          </a:xfrm>
          <a:prstGeom prst="roundRect">
            <a:avLst>
              <a:gd name="adj" fmla="val 1224"/>
            </a:avLst>
          </a:prstGeom>
          <a:solidFill>
            <a:srgbClr val="252526"/>
          </a:solidFill>
          <a:ln w="19050">
            <a:solidFill>
              <a:srgbClr val="4EC9B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0" y="146304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EC9B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SPA / API  (JSON)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400800" y="2011680"/>
            <a:ext cx="493776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res.status(200).json({ data })</a:t>
            </a:r>
            <a:endParaRPr lang="en-US" sz="1250" dirty="0"/>
          </a:p>
          <a:p>
            <a:pPr indent="0" marL="0">
              <a:buNone/>
            </a:pPr>
            <a:r>
              <a:rPr lang="en-US" sz="1300" dirty="0">
                <a:solidFill>
                  <a:srgbClr val="D4D4D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Server JSON qaytaradi → frontend JavaScript qayta ishlaydi.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0" y="3200400"/>
            <a:ext cx="4892040" cy="0"/>
          </a:xfrm>
          <a:prstGeom prst="line">
            <a:avLst/>
          </a:prstGeom>
          <a:noFill/>
          <a:ln w="12700">
            <a:solidFill>
              <a:srgbClr val="3C3C3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0" y="3337560"/>
            <a:ext cx="4937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D4D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Endpointlar: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400800" y="3703320"/>
            <a:ext cx="493776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updateChosenProduct  (POST /product/:id)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updateChosenUser  (POST /user/edit)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40080" y="59436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585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Aralash: alert script (res.send) — processSignup, createNewProduct, check-me</a:t>
            </a:r>
            <a:endParaRPr lang="en-US" sz="12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E1E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2004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Barcha 12 endpoint — umumiy jadval</a:t>
            </a:r>
            <a:endParaRPr lang="en-US" sz="27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051560"/>
          <a:ext cx="1088136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1280160"/>
                <a:gridCol w="4206240"/>
                <a:gridCol w="1280160"/>
                <a:gridCol w="34747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#</a:t>
                      </a:r>
                      <a:endParaRPr lang="en-US" sz="14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C3C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C3C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C3C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C3C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Method</a:t>
                      </a:r>
                      <a:endParaRPr lang="en-US" sz="14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C3C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C3C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C3C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C3C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URL</a:t>
                      </a:r>
                      <a:endParaRPr lang="en-US" sz="14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C3C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C3C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C3C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C3C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Auth</a:t>
                      </a:r>
                      <a:endParaRPr lang="en-US" sz="14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C3C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C3C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C3C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C3C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Response</a:t>
                      </a:r>
                      <a:endParaRPr lang="en-US" sz="14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C3C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C3C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C3C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C3C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3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D4D4D4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1</a:t>
                      </a:r>
                      <a:endParaRPr lang="en-US" sz="125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C3C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C3C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C3C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C3C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25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569CD6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GET</a:t>
                      </a:r>
                      <a:endParaRPr lang="en-US" sz="125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C3C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C3C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C3C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C3C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25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D4D4D4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/admin/</a:t>
                      </a:r>
                      <a:endParaRPr lang="en-US" sz="12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C3C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C3C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C3C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C3C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25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858585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—</a:t>
                      </a:r>
                      <a:endParaRPr lang="en-US" sz="125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C3C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C3C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C3C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C3C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25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D4D4D4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HTML · home.ejs</a:t>
                      </a:r>
                      <a:endParaRPr lang="en-US" sz="125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C3C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C3C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C3C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C3C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252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D4D4D4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2</a:t>
                      </a:r>
                      <a:endParaRPr lang="en-US" sz="125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C3C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C3C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C3C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C3C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1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569CD6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GET</a:t>
                      </a:r>
                      <a:endParaRPr lang="en-US" sz="125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C3C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C3C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C3C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C3C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1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D4D4D4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/admin/signup</a:t>
                      </a:r>
                      <a:endParaRPr lang="en-US" sz="12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C3C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C3C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C3C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C3C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1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858585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—</a:t>
                      </a:r>
                      <a:endParaRPr lang="en-US" sz="125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C3C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C3C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C3C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C3C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1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D4D4D4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HTML · signup.ejs</a:t>
                      </a:r>
                      <a:endParaRPr lang="en-US" sz="125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C3C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C3C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C3C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C3C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1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D4D4D4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3</a:t>
                      </a:r>
                      <a:endParaRPr lang="en-US" sz="125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C3C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C3C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C3C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C3C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25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CE9178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POST</a:t>
                      </a:r>
                      <a:endParaRPr lang="en-US" sz="125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C3C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C3C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C3C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C3C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25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D4D4D4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/admin/signup</a:t>
                      </a:r>
                      <a:endParaRPr lang="en-US" sz="12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C3C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C3C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C3C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C3C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25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858585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—</a:t>
                      </a:r>
                      <a:endParaRPr lang="en-US" sz="125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C3C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C3C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C3C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C3C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25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D4D4D4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redirect</a:t>
                      </a:r>
                      <a:endParaRPr lang="en-US" sz="125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C3C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C3C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C3C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C3C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252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D4D4D4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4</a:t>
                      </a:r>
                      <a:endParaRPr lang="en-US" sz="125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C3C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C3C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C3C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C3C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1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569CD6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GET</a:t>
                      </a:r>
                      <a:endParaRPr lang="en-US" sz="125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C3C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C3C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C3C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C3C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1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D4D4D4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/admin/login</a:t>
                      </a:r>
                      <a:endParaRPr lang="en-US" sz="12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C3C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C3C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C3C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C3C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1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858585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—</a:t>
                      </a:r>
                      <a:endParaRPr lang="en-US" sz="125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C3C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C3C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C3C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C3C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1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D4D4D4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HTML · login.ejs</a:t>
                      </a:r>
                      <a:endParaRPr lang="en-US" sz="125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C3C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C3C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C3C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C3C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1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D4D4D4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5</a:t>
                      </a:r>
                      <a:endParaRPr lang="en-US" sz="125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C3C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C3C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C3C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C3C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25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CE9178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POST</a:t>
                      </a:r>
                      <a:endParaRPr lang="en-US" sz="125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C3C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C3C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C3C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C3C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25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D4D4D4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/admin/login</a:t>
                      </a:r>
                      <a:endParaRPr lang="en-US" sz="12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C3C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C3C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C3C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C3C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25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858585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—</a:t>
                      </a:r>
                      <a:endParaRPr lang="en-US" sz="125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C3C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C3C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C3C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C3C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25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D4D4D4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redirect</a:t>
                      </a:r>
                      <a:endParaRPr lang="en-US" sz="125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C3C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C3C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C3C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C3C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252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D4D4D4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6</a:t>
                      </a:r>
                      <a:endParaRPr lang="en-US" sz="125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C3C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C3C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C3C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C3C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1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569CD6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GET</a:t>
                      </a:r>
                      <a:endParaRPr lang="en-US" sz="125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C3C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C3C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C3C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C3C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1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D4D4D4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/admin/logout</a:t>
                      </a:r>
                      <a:endParaRPr lang="en-US" sz="12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C3C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C3C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C3C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C3C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1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858585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—</a:t>
                      </a:r>
                      <a:endParaRPr lang="en-US" sz="125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C3C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C3C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C3C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C3C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1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D4D4D4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redirect</a:t>
                      </a:r>
                      <a:endParaRPr lang="en-US" sz="125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C3C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C3C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C3C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C3C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1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D4D4D4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7</a:t>
                      </a:r>
                      <a:endParaRPr lang="en-US" sz="125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C3C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C3C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C3C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C3C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25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569CD6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GET</a:t>
                      </a:r>
                      <a:endParaRPr lang="en-US" sz="125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C3C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C3C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C3C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C3C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25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D4D4D4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/admin/check-me</a:t>
                      </a:r>
                      <a:endParaRPr lang="en-US" sz="12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C3C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C3C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C3C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C3C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25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858585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—</a:t>
                      </a:r>
                      <a:endParaRPr lang="en-US" sz="125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C3C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C3C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C3C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C3C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25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D4D4D4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alert script</a:t>
                      </a:r>
                      <a:endParaRPr lang="en-US" sz="125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C3C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C3C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C3C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C3C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252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D4D4D4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8</a:t>
                      </a:r>
                      <a:endParaRPr lang="en-US" sz="125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C3C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C3C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C3C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C3C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1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569CD6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GET</a:t>
                      </a:r>
                      <a:endParaRPr lang="en-US" sz="125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C3C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C3C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C3C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C3C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1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D4D4D4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/admin/product/all</a:t>
                      </a:r>
                      <a:endParaRPr lang="en-US" sz="12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C3C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C3C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C3C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C3C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1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44747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AUTH</a:t>
                      </a:r>
                      <a:endParaRPr lang="en-US" sz="125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C3C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C3C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C3C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C3C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1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D4D4D4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HTML · products.ejs</a:t>
                      </a:r>
                      <a:endParaRPr lang="en-US" sz="125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C3C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C3C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C3C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C3C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1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D4D4D4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9</a:t>
                      </a:r>
                      <a:endParaRPr lang="en-US" sz="125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C3C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C3C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C3C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C3C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25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CE9178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POST</a:t>
                      </a:r>
                      <a:endParaRPr lang="en-US" sz="125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C3C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C3C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C3C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C3C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25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D4D4D4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/admin/product/create</a:t>
                      </a:r>
                      <a:endParaRPr lang="en-US" sz="12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C3C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C3C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C3C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C3C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25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44747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AUTH</a:t>
                      </a:r>
                      <a:endParaRPr lang="en-US" sz="125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C3C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C3C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C3C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C3C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25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D4D4D4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alert script</a:t>
                      </a:r>
                      <a:endParaRPr lang="en-US" sz="125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C3C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C3C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C3C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C3C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252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D4D4D4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10</a:t>
                      </a:r>
                      <a:endParaRPr lang="en-US" sz="125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C3C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C3C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C3C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C3C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1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CE9178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POST</a:t>
                      </a:r>
                      <a:endParaRPr lang="en-US" sz="125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C3C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C3C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C3C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C3C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1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D4D4D4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/admin/product/:id</a:t>
                      </a:r>
                      <a:endParaRPr lang="en-US" sz="12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C3C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C3C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C3C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C3C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1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44747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AUTH</a:t>
                      </a:r>
                      <a:endParaRPr lang="en-US" sz="125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C3C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C3C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C3C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C3C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1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D4D4D4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JSON</a:t>
                      </a:r>
                      <a:endParaRPr lang="en-US" sz="125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C3C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C3C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C3C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C3C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1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D4D4D4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11</a:t>
                      </a:r>
                      <a:endParaRPr lang="en-US" sz="125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C3C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C3C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C3C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C3C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25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569CD6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GET</a:t>
                      </a:r>
                      <a:endParaRPr lang="en-US" sz="125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C3C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C3C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C3C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C3C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25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D4D4D4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/admin/user/all</a:t>
                      </a:r>
                      <a:endParaRPr lang="en-US" sz="12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C3C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C3C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C3C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C3C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25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44747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AUTH</a:t>
                      </a:r>
                      <a:endParaRPr lang="en-US" sz="125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C3C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C3C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C3C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C3C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25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D4D4D4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HTML · users.ejs</a:t>
                      </a:r>
                      <a:endParaRPr lang="en-US" sz="125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C3C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C3C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C3C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C3C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252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D4D4D4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12</a:t>
                      </a:r>
                      <a:endParaRPr lang="en-US" sz="125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C3C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C3C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C3C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C3C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1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CE9178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POST</a:t>
                      </a:r>
                      <a:endParaRPr lang="en-US" sz="125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C3C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C3C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C3C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C3C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1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D4D4D4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/admin/user/edit</a:t>
                      </a:r>
                      <a:endParaRPr lang="en-US" sz="12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C3C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C3C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C3C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C3C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1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44747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AUTH</a:t>
                      </a:r>
                      <a:endParaRPr lang="en-US" sz="125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C3C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C3C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C3C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C3C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1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D4D4D4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JSON</a:t>
                      </a:r>
                      <a:endParaRPr lang="en-US" sz="125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3C3C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C3C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C3C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C3C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1E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640080" y="62636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585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 ochiq · 5 himoyalangan   |   5 SSR · 2 JSON · 2 redirect · 2 alert script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Burak — API Kod Tahlili</dc:title>
  <dc:subject>PptxGenJS Presentation</dc:subject>
  <dc:creator>Burak Project</dc:creator>
  <cp:lastModifiedBy>Burak Project</cp:lastModifiedBy>
  <cp:revision>1</cp:revision>
  <dcterms:created xsi:type="dcterms:W3CDTF">2026-06-20T07:47:49Z</dcterms:created>
  <dcterms:modified xsi:type="dcterms:W3CDTF">2026-06-20T07:47:49Z</dcterms:modified>
</cp:coreProperties>
</file>